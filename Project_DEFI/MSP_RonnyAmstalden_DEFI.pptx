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20"/>
  </p:notesMasterIdLst>
  <p:handoutMasterIdLst>
    <p:handoutMasterId r:id="rId21"/>
  </p:handoutMasterIdLst>
  <p:sldIdLst>
    <p:sldId id="2147472796" r:id="rId5"/>
    <p:sldId id="298" r:id="rId6"/>
    <p:sldId id="2147472670" r:id="rId7"/>
    <p:sldId id="301" r:id="rId8"/>
    <p:sldId id="292" r:id="rId9"/>
    <p:sldId id="2147472797" r:id="rId10"/>
    <p:sldId id="2147472798" r:id="rId11"/>
    <p:sldId id="2147472799" r:id="rId12"/>
    <p:sldId id="2147472800" r:id="rId13"/>
    <p:sldId id="2147472801" r:id="rId14"/>
    <p:sldId id="2147472803" r:id="rId15"/>
    <p:sldId id="2147472802" r:id="rId16"/>
    <p:sldId id="2147472804" r:id="rId17"/>
    <p:sldId id="2147472805" r:id="rId18"/>
    <p:sldId id="2147472806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70E"/>
    <a:srgbClr val="FFFFFF"/>
    <a:srgbClr val="F1F3F3"/>
    <a:srgbClr val="E5EAE9"/>
    <a:srgbClr val="E1DBD5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ACE582-5BA5-4FB2-9BCA-EBC728FB82BF}" v="3" dt="2025-05-26T06:44:48.327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807" autoAdjust="0"/>
  </p:normalViewPr>
  <p:slideViewPr>
    <p:cSldViewPr showGuides="1">
      <p:cViewPr varScale="1">
        <p:scale>
          <a:sx n="73" d="100"/>
          <a:sy n="73" d="100"/>
        </p:scale>
        <p:origin x="332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107" d="100"/>
          <a:sy n="107" d="100"/>
        </p:scale>
        <p:origin x="5259" y="6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ieu Coustans" userId="e8619a91-88a5-4906-b918-1d2303beb8f3" providerId="ADAL" clId="{E484BBEB-414B-4B5C-B3BA-1C280C9C4CA5}"/>
    <pc:docChg chg="custSel modSld">
      <pc:chgData name="Mathieu Coustans" userId="e8619a91-88a5-4906-b918-1d2303beb8f3" providerId="ADAL" clId="{E484BBEB-414B-4B5C-B3BA-1C280C9C4CA5}" dt="2025-05-07T12:47:51.045" v="9" actId="20577"/>
      <pc:docMkLst>
        <pc:docMk/>
      </pc:docMkLst>
      <pc:sldChg chg="addSp modSp mod">
        <pc:chgData name="Mathieu Coustans" userId="e8619a91-88a5-4906-b918-1d2303beb8f3" providerId="ADAL" clId="{E484BBEB-414B-4B5C-B3BA-1C280C9C4CA5}" dt="2025-05-07T12:47:51.045" v="9" actId="20577"/>
        <pc:sldMkLst>
          <pc:docMk/>
          <pc:sldMk cId="246504645" sldId="298"/>
        </pc:sldMkLst>
        <pc:spChg chg="mod">
          <ac:chgData name="Mathieu Coustans" userId="e8619a91-88a5-4906-b918-1d2303beb8f3" providerId="ADAL" clId="{E484BBEB-414B-4B5C-B3BA-1C280C9C4CA5}" dt="2025-05-07T12:47:51.045" v="9" actId="20577"/>
          <ac:spMkLst>
            <pc:docMk/>
            <pc:sldMk cId="246504645" sldId="298"/>
            <ac:spMk id="2" creationId="{053ADAF5-4807-68FF-4D40-65438BF62A11}"/>
          </ac:spMkLst>
        </pc:spChg>
        <pc:spChg chg="mod">
          <ac:chgData name="Mathieu Coustans" userId="e8619a91-88a5-4906-b918-1d2303beb8f3" providerId="ADAL" clId="{E484BBEB-414B-4B5C-B3BA-1C280C9C4CA5}" dt="2025-05-07T12:47:46.318" v="7" actId="20577"/>
          <ac:spMkLst>
            <pc:docMk/>
            <pc:sldMk cId="246504645" sldId="298"/>
            <ac:spMk id="6" creationId="{9070260B-CF47-66A4-FC11-39A8B8E6AC93}"/>
          </ac:spMkLst>
        </pc:spChg>
        <pc:spChg chg="mod">
          <ac:chgData name="Mathieu Coustans" userId="e8619a91-88a5-4906-b918-1d2303beb8f3" providerId="ADAL" clId="{E484BBEB-414B-4B5C-B3BA-1C280C9C4CA5}" dt="2025-05-07T12:40:46.693" v="4" actId="20577"/>
          <ac:spMkLst>
            <pc:docMk/>
            <pc:sldMk cId="246504645" sldId="298"/>
            <ac:spMk id="8" creationId="{B99FC38A-260C-7A9B-B4EB-E0CE4802842E}"/>
          </ac:spMkLst>
        </pc:spChg>
      </pc:sldChg>
    </pc:docChg>
  </pc:docChgLst>
  <pc:docChgLst>
    <pc:chgData name="Mathieu Coustans" userId="e8619a91-88a5-4906-b918-1d2303beb8f3" providerId="ADAL" clId="{48ACE582-5BA5-4FB2-9BCA-EBC728FB82BF}"/>
    <pc:docChg chg="undo custSel addSld modSld sldOrd">
      <pc:chgData name="Mathieu Coustans" userId="e8619a91-88a5-4906-b918-1d2303beb8f3" providerId="ADAL" clId="{48ACE582-5BA5-4FB2-9BCA-EBC728FB82BF}" dt="2025-05-26T06:44:48.327" v="67"/>
      <pc:docMkLst>
        <pc:docMk/>
      </pc:docMkLst>
      <pc:sldChg chg="addSp delSp modSp mod">
        <pc:chgData name="Mathieu Coustans" userId="e8619a91-88a5-4906-b918-1d2303beb8f3" providerId="ADAL" clId="{48ACE582-5BA5-4FB2-9BCA-EBC728FB82BF}" dt="2025-05-26T06:44:48.327" v="67"/>
        <pc:sldMkLst>
          <pc:docMk/>
          <pc:sldMk cId="246504645" sldId="298"/>
        </pc:sldMkLst>
        <pc:spChg chg="del">
          <ac:chgData name="Mathieu Coustans" userId="e8619a91-88a5-4906-b918-1d2303beb8f3" providerId="ADAL" clId="{48ACE582-5BA5-4FB2-9BCA-EBC728FB82BF}" dt="2025-05-26T06:44:48.327" v="67"/>
          <ac:spMkLst>
            <pc:docMk/>
            <pc:sldMk cId="246504645" sldId="298"/>
            <ac:spMk id="5" creationId="{4D5D026F-2392-DC1E-84B9-086F35D8A282}"/>
          </ac:spMkLst>
        </pc:spChg>
        <pc:spChg chg="mod">
          <ac:chgData name="Mathieu Coustans" userId="e8619a91-88a5-4906-b918-1d2303beb8f3" providerId="ADAL" clId="{48ACE582-5BA5-4FB2-9BCA-EBC728FB82BF}" dt="2025-05-26T06:41:47.190" v="26" actId="20577"/>
          <ac:spMkLst>
            <pc:docMk/>
            <pc:sldMk cId="246504645" sldId="298"/>
            <ac:spMk id="6" creationId="{9070260B-CF47-66A4-FC11-39A8B8E6AC93}"/>
          </ac:spMkLst>
        </pc:spChg>
        <pc:spChg chg="mod">
          <ac:chgData name="Mathieu Coustans" userId="e8619a91-88a5-4906-b918-1d2303beb8f3" providerId="ADAL" clId="{48ACE582-5BA5-4FB2-9BCA-EBC728FB82BF}" dt="2025-05-26T06:41:41.977" v="15" actId="20577"/>
          <ac:spMkLst>
            <pc:docMk/>
            <pc:sldMk cId="246504645" sldId="298"/>
            <ac:spMk id="7" creationId="{C878F171-5CBB-F640-B0CE-CE00CC1579DB}"/>
          </ac:spMkLst>
        </pc:spChg>
        <pc:spChg chg="mod">
          <ac:chgData name="Mathieu Coustans" userId="e8619a91-88a5-4906-b918-1d2303beb8f3" providerId="ADAL" clId="{48ACE582-5BA5-4FB2-9BCA-EBC728FB82BF}" dt="2025-05-26T06:44:37.219" v="66" actId="20577"/>
          <ac:spMkLst>
            <pc:docMk/>
            <pc:sldMk cId="246504645" sldId="298"/>
            <ac:spMk id="8" creationId="{B99FC38A-260C-7A9B-B4EB-E0CE4802842E}"/>
          </ac:spMkLst>
        </pc:spChg>
        <pc:picChg chg="add mod">
          <ac:chgData name="Mathieu Coustans" userId="e8619a91-88a5-4906-b918-1d2303beb8f3" providerId="ADAL" clId="{48ACE582-5BA5-4FB2-9BCA-EBC728FB82BF}" dt="2025-05-26T06:44:48.327" v="67"/>
          <ac:picMkLst>
            <pc:docMk/>
            <pc:sldMk cId="246504645" sldId="298"/>
            <ac:picMk id="9" creationId="{E20AF595-AEB1-03C8-4CE7-938F5F4D7FA8}"/>
          </ac:picMkLst>
        </pc:picChg>
        <pc:picChg chg="del">
          <ac:chgData name="Mathieu Coustans" userId="e8619a91-88a5-4906-b918-1d2303beb8f3" providerId="ADAL" clId="{48ACE582-5BA5-4FB2-9BCA-EBC728FB82BF}" dt="2025-05-26T06:41:33.867" v="0" actId="478"/>
          <ac:picMkLst>
            <pc:docMk/>
            <pc:sldMk cId="246504645" sldId="298"/>
            <ac:picMk id="1026" creationId="{20ADDE47-C705-7809-6EBA-CF37C7FD4743}"/>
          </ac:picMkLst>
        </pc:picChg>
      </pc:sldChg>
      <pc:sldChg chg="modSp add mod ord modShow">
        <pc:chgData name="Mathieu Coustans" userId="e8619a91-88a5-4906-b918-1d2303beb8f3" providerId="ADAL" clId="{48ACE582-5BA5-4FB2-9BCA-EBC728FB82BF}" dt="2025-05-26T06:43:23.361" v="51" actId="729"/>
        <pc:sldMkLst>
          <pc:docMk/>
          <pc:sldMk cId="2694949735" sldId="2147472796"/>
        </pc:sldMkLst>
        <pc:spChg chg="mod">
          <ac:chgData name="Mathieu Coustans" userId="e8619a91-88a5-4906-b918-1d2303beb8f3" providerId="ADAL" clId="{48ACE582-5BA5-4FB2-9BCA-EBC728FB82BF}" dt="2025-05-26T06:43:14.132" v="50" actId="20577"/>
          <ac:spMkLst>
            <pc:docMk/>
            <pc:sldMk cId="2694949735" sldId="2147472796"/>
            <ac:spMk id="6" creationId="{D9F2C54F-D951-6B39-CEEB-85909118059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02.07.2025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‹Nr.›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02.07.2025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061DB-DF71-4765-99A4-14E22DF63CCF}" type="slidenum">
              <a:rPr lang="de-CH" smtClean="0"/>
              <a:pPr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58166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2040BAA5-8ED1-5052-684A-DB6BB56E8FD6}"/>
              </a:ext>
            </a:extLst>
          </p:cNvPr>
          <p:cNvSpPr/>
          <p:nvPr userDrawn="1"/>
        </p:nvSpPr>
        <p:spPr>
          <a:xfrm>
            <a:off x="0" y="846667"/>
            <a:ext cx="6102000" cy="6011333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8076" y="6223621"/>
            <a:ext cx="2631600" cy="216000"/>
          </a:xfrm>
        </p:spPr>
        <p:txBody>
          <a:bodyPr/>
          <a:lstStyle>
            <a:lvl1pPr>
              <a:defRPr sz="1350"/>
            </a:lvl1pPr>
          </a:lstStyle>
          <a:p>
            <a:fld id="{E471F87F-7CC2-488B-AD55-33485FC98B76}" type="datetime1">
              <a:rPr lang="de-DE" smtClean="0"/>
              <a:t>02.07.2025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031569" y="148321"/>
            <a:ext cx="360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031569" y="148321"/>
            <a:ext cx="360000" cy="36000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Bildplatzhalter 3">
            <a:extLst>
              <a:ext uri="{FF2B5EF4-FFF2-40B4-BE49-F238E27FC236}">
                <a16:creationId xmlns:a16="http://schemas.microsoft.com/office/drawing/2014/main" id="{594B6BE9-185E-A88B-41DA-D0D14396ED7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03027" y="850779"/>
            <a:ext cx="5323238" cy="6007221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 dirty="0"/>
              <a:t> Ersetzen Sie diesen Platzhalter durch ein Bild </a:t>
            </a:r>
            <a:br>
              <a:rPr lang="de-CH" dirty="0"/>
            </a:br>
            <a:r>
              <a:rPr lang="de-CH" dirty="0"/>
              <a:t>(Grösse und Position beibehalten).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Eine Auswahl an FHNW-Bildern finden Sie im </a:t>
            </a:r>
            <a:br>
              <a:rPr lang="de-CH" dirty="0"/>
            </a:br>
            <a:r>
              <a:rPr lang="de-CH" dirty="0"/>
              <a:t>«Content </a:t>
            </a:r>
            <a:r>
              <a:rPr lang="de-CH" dirty="0" err="1"/>
              <a:t>Chooser</a:t>
            </a:r>
            <a:r>
              <a:rPr lang="de-CH" dirty="0"/>
              <a:t>» rechts in PowerPoint </a:t>
            </a:r>
            <a:br>
              <a:rPr lang="de-CH" dirty="0"/>
            </a:br>
            <a:r>
              <a:rPr lang="de-CH" dirty="0"/>
              <a:t>oder unter dem Menüpunkt «Einfügen &gt; Inhalte».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Eigene Bilder können Sie durch einen Klick auf das untenstehende Icon einfügen.</a:t>
            </a:r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287EEC27-B21C-02CA-ECBC-917FAECFBD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076" y="5229000"/>
            <a:ext cx="5265300" cy="935263"/>
          </a:xfrm>
        </p:spPr>
        <p:txBody>
          <a:bodyPr anchor="b"/>
          <a:lstStyle>
            <a:lvl1pPr marL="0" indent="0">
              <a:buNone/>
              <a:defRPr sz="1350"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CH" sz="1350" dirty="0"/>
              <a:t>Vorname Name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6CC97B3-B836-D6D6-7A42-566F071FE5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117240"/>
            <a:ext cx="5265301" cy="1231106"/>
          </a:xfrm>
        </p:spPr>
        <p:txBody>
          <a:bodyPr wrap="square" anchor="t">
            <a:noAutofit/>
          </a:bodyPr>
          <a:lstStyle>
            <a:lvl1pPr>
              <a:defRPr sz="4000" b="1">
                <a:latin typeface="+mj-lt"/>
              </a:defRPr>
            </a:lvl1pPr>
          </a:lstStyle>
          <a:p>
            <a:r>
              <a:rPr lang="de-CH" dirty="0"/>
              <a:t>Titel </a:t>
            </a:r>
            <a:br>
              <a:rPr lang="de-CH" dirty="0"/>
            </a:br>
            <a:r>
              <a:rPr lang="de-CH" dirty="0"/>
              <a:t>hinzufügen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6EFFB021-AEC2-B428-A250-E8A8F84795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8076" y="2926800"/>
            <a:ext cx="5265300" cy="15102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CH" noProof="0" dirty="0"/>
              <a:t>Untertitel </a:t>
            </a:r>
            <a:br>
              <a:rPr lang="de-CH" noProof="0" dirty="0"/>
            </a:br>
            <a:r>
              <a:rPr lang="de-CH" noProof="0" dirty="0"/>
              <a:t>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170372"/>
            <a:ext cx="11012400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08075" y="1989138"/>
            <a:ext cx="11013193" cy="4175125"/>
          </a:xfrm>
        </p:spPr>
        <p:txBody>
          <a:bodyPr/>
          <a:lstStyle>
            <a:lvl1pPr>
              <a:defRPr/>
            </a:lvl1pPr>
            <a:lvl3pPr marL="536575" indent="-268288">
              <a:defRPr/>
            </a:lvl3pPr>
          </a:lstStyle>
          <a:p>
            <a:pPr lvl="0"/>
            <a:r>
              <a:rPr lang="de-DE" dirty="0"/>
              <a:t>Inhalt hinzufügen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89AB9197-1220-80BD-481F-90A973E1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1E4E-1107-499B-BB00-8AA0260A0EFB}" type="datetime1">
              <a:rPr lang="de-DE" smtClean="0"/>
              <a:t>02.07.2025</a:t>
            </a:fld>
            <a:endParaRPr lang="de-CH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2D173F40-185C-2ADF-A4DC-16363A32C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0A1AFE9-5D1C-2846-D3BD-C3EFFEF9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B03B558-1909-9EAA-030E-9F4C655318C3}"/>
              </a:ext>
            </a:extLst>
          </p:cNvPr>
          <p:cNvSpPr/>
          <p:nvPr userDrawn="1"/>
        </p:nvSpPr>
        <p:spPr>
          <a:xfrm>
            <a:off x="0" y="846667"/>
            <a:ext cx="11430000" cy="6011333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tlCol="0" anchor="ctr"/>
          <a:lstStyle/>
          <a:p>
            <a:pPr algn="ctr"/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067524"/>
            <a:ext cx="10587038" cy="921613"/>
          </a:xfrm>
        </p:spPr>
        <p:txBody>
          <a:bodyPr/>
          <a:lstStyle>
            <a:lvl1pPr>
              <a:defRPr sz="5850"/>
            </a:lvl1pPr>
          </a:lstStyle>
          <a:p>
            <a:r>
              <a:rPr lang="de-CH" dirty="0"/>
              <a:t>Titel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030000" y="162000"/>
            <a:ext cx="360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23907732-924E-43E9-B4C2-6CF127C307EB}" type="datetime1">
              <a:rPr lang="de-DE" smtClean="0"/>
              <a:t>02.07.2025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030000" y="162000"/>
            <a:ext cx="360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1814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170372"/>
            <a:ext cx="11012400" cy="492443"/>
          </a:xfrm>
        </p:spPr>
        <p:txBody>
          <a:bodyPr/>
          <a:lstStyle>
            <a:lvl1pPr>
              <a:defRPr b="0"/>
            </a:lvl1pPr>
          </a:lstStyle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08075" y="1989138"/>
            <a:ext cx="11013193" cy="4175125"/>
          </a:xfrm>
        </p:spPr>
        <p:txBody>
          <a:bodyPr/>
          <a:lstStyle>
            <a:lvl1pPr marL="270000" indent="-270000">
              <a:buFont typeface="+mj-lt"/>
              <a:buAutoNum type="arabicPeriod"/>
              <a:defRPr sz="2000"/>
            </a:lvl1pPr>
            <a:lvl2pPr marL="540000" indent="-270000">
              <a:buFont typeface="+mj-lt"/>
              <a:buAutoNum type="alphaLcPeriod"/>
              <a:defRPr sz="2000"/>
            </a:lvl2pPr>
            <a:lvl3pPr marL="810000" indent="-270000">
              <a:defRPr sz="2000"/>
            </a:lvl3pPr>
            <a:lvl4pPr marL="1080000" indent="-270000">
              <a:defRPr sz="2000"/>
            </a:lvl4pPr>
            <a:lvl5pPr marL="1350000" indent="-270000">
              <a:defRPr sz="2000"/>
            </a:lvl5pPr>
          </a:lstStyle>
          <a:p>
            <a:pPr lvl="0"/>
            <a:r>
              <a:rPr lang="de-DE" dirty="0"/>
              <a:t>Inhalt hinzufügen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95A94-05D5-4DEC-81F7-6AB426E292F4}" type="datetime1">
              <a:rPr lang="de-DE" smtClean="0"/>
              <a:t>02.07.2025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79837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170372"/>
            <a:ext cx="11012400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08076" y="1989137"/>
            <a:ext cx="5040000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385979" y="1989138"/>
            <a:ext cx="5037671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79FA-DBB5-4713-9CD9-90401A466906}" type="datetime1">
              <a:rPr lang="de-DE" smtClean="0"/>
              <a:t>02.07.2025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30175" y="1170372"/>
            <a:ext cx="5393475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030175" y="1989138"/>
            <a:ext cx="5393475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2A08-A377-47C6-B39F-B1E1F769F25A}" type="datetime1">
              <a:rPr lang="de-DE" smtClean="0"/>
              <a:t>02.07.2025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Bildplatzhalter 3">
            <a:extLst>
              <a:ext uri="{FF2B5EF4-FFF2-40B4-BE49-F238E27FC236}">
                <a16:creationId xmlns:a16="http://schemas.microsoft.com/office/drawing/2014/main" id="{045B5233-76F3-BDA2-C5F4-340A566D321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2941" y="846001"/>
            <a:ext cx="5324400" cy="5688000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 dirty="0"/>
              <a:t>Ersetzen Sie diesen Platzhalter durch ein Bild </a:t>
            </a:r>
            <a:br>
              <a:rPr lang="de-CH" dirty="0"/>
            </a:br>
            <a:r>
              <a:rPr lang="de-CH" dirty="0"/>
              <a:t>(Grösse und Position beibehalten).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Eine Auswahl an FHNW-Bildern finden Sie im </a:t>
            </a:r>
            <a:br>
              <a:rPr lang="de-CH" dirty="0"/>
            </a:br>
            <a:r>
              <a:rPr lang="de-CH" dirty="0"/>
              <a:t>«Content </a:t>
            </a:r>
            <a:r>
              <a:rPr lang="de-CH" dirty="0" err="1"/>
              <a:t>Chooser</a:t>
            </a:r>
            <a:r>
              <a:rPr lang="de-CH" dirty="0"/>
              <a:t>» rechts in PowerPoint </a:t>
            </a:r>
            <a:br>
              <a:rPr lang="de-CH" dirty="0"/>
            </a:br>
            <a:r>
              <a:rPr lang="de-CH" dirty="0"/>
              <a:t>oder unter dem Menüpunkt «Einfügen &gt; Inhalte».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Eigene Bilder können Sie durch einen Klick auf das untenstehende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3997219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170372"/>
            <a:ext cx="5040000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08076" y="1989138"/>
            <a:ext cx="5040000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8CE2-D1EA-49D7-88A5-9921AB788BF8}" type="datetime1">
              <a:rPr lang="de-DE" smtClean="0"/>
              <a:t>02.07.2025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8" name="Bildplatzhalter 3">
            <a:extLst>
              <a:ext uri="{FF2B5EF4-FFF2-40B4-BE49-F238E27FC236}">
                <a16:creationId xmlns:a16="http://schemas.microsoft.com/office/drawing/2014/main" id="{BFED3010-9542-8FB4-6B6D-FE485296850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10131" y="846000"/>
            <a:ext cx="5324400" cy="5688000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 dirty="0"/>
              <a:t>Ersetzen Sie diesen Platzhalter durch ein Bild </a:t>
            </a:r>
            <a:br>
              <a:rPr lang="de-CH" dirty="0"/>
            </a:br>
            <a:r>
              <a:rPr lang="de-CH" dirty="0"/>
              <a:t>(Grösse und Position beibehalten).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Eine Auswahl an FHNW-Bildern finden Sie im </a:t>
            </a:r>
            <a:br>
              <a:rPr lang="de-CH" dirty="0"/>
            </a:br>
            <a:r>
              <a:rPr lang="de-CH" dirty="0"/>
              <a:t>«Content </a:t>
            </a:r>
            <a:r>
              <a:rPr lang="de-CH" dirty="0" err="1"/>
              <a:t>Chooser</a:t>
            </a:r>
            <a:r>
              <a:rPr lang="de-CH" dirty="0"/>
              <a:t>» rechts in PowerPoint </a:t>
            </a:r>
            <a:br>
              <a:rPr lang="de-CH" dirty="0"/>
            </a:br>
            <a:r>
              <a:rPr lang="de-CH" dirty="0"/>
              <a:t>oder unter dem Menüpunkt «Einfügen &gt; Inhalte».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Eigene Bilder können Sie durch einen Klick auf das untenstehende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2932665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EB216CB-AE9D-4C01-AD48-4B79158751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884AD1-A783-44E4-89C8-03B3CA1C81C1}" type="datetime1">
              <a:rPr lang="de-DE" smtClean="0"/>
              <a:t>02.07.2025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E67269-0443-40A6-8D53-CF9C30AE72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2179C-3288-47A5-A587-1B7255A2C3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A158FDB-0E1B-74C0-3EFC-E1E947BFEE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846872"/>
            <a:ext cx="11430000" cy="5688000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 dirty="0"/>
              <a:t> Ersetzen Sie diesen Platzhalter durch ein Bild (Grösse und Position beibehalten).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Eine Auswahl an FHNW-Bildern finden Sie im «Content </a:t>
            </a:r>
            <a:r>
              <a:rPr lang="de-CH" dirty="0" err="1"/>
              <a:t>Chooser</a:t>
            </a:r>
            <a:r>
              <a:rPr lang="de-CH" dirty="0"/>
              <a:t>» rechts in PowerPoint </a:t>
            </a:r>
            <a:br>
              <a:rPr lang="de-CH" dirty="0"/>
            </a:br>
            <a:r>
              <a:rPr lang="de-CH" dirty="0"/>
              <a:t>oder unter dem Menüpunkt «Einfügen &gt; Inhalte».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Eigene Bilder können Sie durch einen Klick</a:t>
            </a:r>
            <a:br>
              <a:rPr lang="de-CH" dirty="0"/>
            </a:br>
            <a:r>
              <a:rPr lang="de-CH" dirty="0"/>
              <a:t>auf das untenstehende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245175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170372"/>
            <a:ext cx="11012400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A167D-93E7-43CF-ADB7-181D413D4773}" type="datetime1">
              <a:rPr lang="de-DE" smtClean="0"/>
              <a:t>02.07.2025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F1D7-D20B-4528-9E03-8B18AB702752}" type="datetime1">
              <a:rPr lang="de-DE" smtClean="0"/>
              <a:t>02.07.2025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>
            <a:spLocks noGrp="1" noChangeArrowheads="1"/>
          </p:cNvSpPr>
          <p:nvPr>
            <p:ph type="title" hasCustomPrompt="1"/>
          </p:nvPr>
        </p:nvSpPr>
        <p:spPr>
          <a:xfrm>
            <a:off x="675502" y="1369296"/>
            <a:ext cx="10840997" cy="279179"/>
          </a:xfrm>
        </p:spPr>
        <p:txBody>
          <a:bodyPr/>
          <a:lstStyle>
            <a:lvl1pPr>
              <a:defRPr sz="1814" b="1" i="0" baseline="0"/>
            </a:lvl1pPr>
          </a:lstStyle>
          <a:p>
            <a:r>
              <a:rPr lang="de-DE" dirty="0"/>
              <a:t>Titel durch Klicken hinzufügen</a:t>
            </a:r>
          </a:p>
        </p:txBody>
      </p:sp>
      <p:sp>
        <p:nvSpPr>
          <p:cNvPr id="16" name="Rechteck 15"/>
          <p:cNvSpPr/>
          <p:nvPr userDrawn="1"/>
        </p:nvSpPr>
        <p:spPr bwMode="auto">
          <a:xfrm>
            <a:off x="6194552" y="1976911"/>
            <a:ext cx="5321946" cy="2002633"/>
          </a:xfrm>
          <a:prstGeom prst="rect">
            <a:avLst/>
          </a:prstGeom>
          <a:solidFill>
            <a:srgbClr val="F0F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931" tIns="41465" rIns="82931" bIns="4146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459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904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6194551" y="4197677"/>
            <a:ext cx="5321946" cy="2002633"/>
          </a:xfrm>
          <a:prstGeom prst="rect">
            <a:avLst/>
          </a:prstGeom>
          <a:solidFill>
            <a:srgbClr val="F0F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931" tIns="41465" rIns="82931" bIns="4146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459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904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666169" y="4197676"/>
            <a:ext cx="5321946" cy="1991753"/>
          </a:xfrm>
          <a:prstGeom prst="rect">
            <a:avLst/>
          </a:prstGeom>
          <a:solidFill>
            <a:srgbClr val="F0F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931" tIns="41465" rIns="82931" bIns="4146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459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904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666168" y="1976911"/>
            <a:ext cx="5321946" cy="1991753"/>
          </a:xfrm>
          <a:prstGeom prst="rect">
            <a:avLst/>
          </a:prstGeom>
          <a:solidFill>
            <a:srgbClr val="F0F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931" tIns="41465" rIns="82931" bIns="4146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459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904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5" name="Textplatzhalter 2"/>
          <p:cNvSpPr>
            <a:spLocks noGrp="1"/>
          </p:cNvSpPr>
          <p:nvPr>
            <p:ph type="body" sz="quarter" idx="28" hasCustomPrompt="1"/>
          </p:nvPr>
        </p:nvSpPr>
        <p:spPr>
          <a:xfrm>
            <a:off x="937950" y="2232273"/>
            <a:ext cx="4501128" cy="804865"/>
          </a:xfrm>
        </p:spPr>
        <p:txBody>
          <a:bodyPr/>
          <a:lstStyle>
            <a:lvl1pPr>
              <a:defRPr sz="1814"/>
            </a:lvl1pPr>
          </a:lstStyle>
          <a:p>
            <a:pPr lvl="0"/>
            <a:r>
              <a:rPr lang="de-DE" dirty="0"/>
              <a:t>Titel</a:t>
            </a:r>
          </a:p>
        </p:txBody>
      </p:sp>
      <p:sp>
        <p:nvSpPr>
          <p:cNvPr id="36" name="Textplatzhalter 2"/>
          <p:cNvSpPr>
            <a:spLocks noGrp="1"/>
          </p:cNvSpPr>
          <p:nvPr>
            <p:ph type="body" sz="quarter" idx="29" hasCustomPrompt="1"/>
          </p:nvPr>
        </p:nvSpPr>
        <p:spPr>
          <a:xfrm>
            <a:off x="6481971" y="2232273"/>
            <a:ext cx="4501128" cy="804865"/>
          </a:xfrm>
        </p:spPr>
        <p:txBody>
          <a:bodyPr/>
          <a:lstStyle>
            <a:lvl1pPr>
              <a:defRPr sz="1814"/>
            </a:lvl1pPr>
          </a:lstStyle>
          <a:p>
            <a:pPr lvl="0"/>
            <a:r>
              <a:rPr lang="de-DE" dirty="0"/>
              <a:t>Titel</a:t>
            </a:r>
          </a:p>
        </p:txBody>
      </p:sp>
      <p:sp>
        <p:nvSpPr>
          <p:cNvPr id="37" name="Textplatzhalter 2"/>
          <p:cNvSpPr>
            <a:spLocks noGrp="1"/>
          </p:cNvSpPr>
          <p:nvPr>
            <p:ph type="body" sz="quarter" idx="30" hasCustomPrompt="1"/>
          </p:nvPr>
        </p:nvSpPr>
        <p:spPr>
          <a:xfrm>
            <a:off x="937950" y="4408662"/>
            <a:ext cx="4501128" cy="804865"/>
          </a:xfrm>
        </p:spPr>
        <p:txBody>
          <a:bodyPr/>
          <a:lstStyle>
            <a:lvl1pPr>
              <a:defRPr sz="1814"/>
            </a:lvl1pPr>
          </a:lstStyle>
          <a:p>
            <a:pPr lvl="0"/>
            <a:r>
              <a:rPr lang="de-DE" dirty="0"/>
              <a:t>Titel</a:t>
            </a:r>
          </a:p>
        </p:txBody>
      </p:sp>
      <p:sp>
        <p:nvSpPr>
          <p:cNvPr id="38" name="Textplatzhalter 2"/>
          <p:cNvSpPr>
            <a:spLocks noGrp="1"/>
          </p:cNvSpPr>
          <p:nvPr>
            <p:ph type="body" sz="quarter" idx="31" hasCustomPrompt="1"/>
          </p:nvPr>
        </p:nvSpPr>
        <p:spPr>
          <a:xfrm>
            <a:off x="6481971" y="4408662"/>
            <a:ext cx="4501128" cy="804865"/>
          </a:xfrm>
        </p:spPr>
        <p:txBody>
          <a:bodyPr/>
          <a:lstStyle>
            <a:lvl1pPr>
              <a:defRPr sz="1814"/>
            </a:lvl1pPr>
          </a:lstStyle>
          <a:p>
            <a:pPr lvl="0"/>
            <a:r>
              <a:rPr lang="de-DE" dirty="0"/>
              <a:t>Titel</a:t>
            </a:r>
          </a:p>
        </p:txBody>
      </p:sp>
      <p:pic>
        <p:nvPicPr>
          <p:cNvPr id="12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5574" y="304296"/>
            <a:ext cx="1290037" cy="33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3003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CA65A95-72B9-9C39-BC44-04A643558335}"/>
              </a:ext>
            </a:extLst>
          </p:cNvPr>
          <p:cNvSpPr/>
          <p:nvPr userDrawn="1"/>
        </p:nvSpPr>
        <p:spPr>
          <a:xfrm>
            <a:off x="0" y="6534000"/>
            <a:ext cx="11430000" cy="324000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10457" y="1170372"/>
            <a:ext cx="11006138" cy="49244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07988" y="1989137"/>
            <a:ext cx="11015662" cy="41759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 dirty="0"/>
              <a:t>Inhalt hinzufügen</a:t>
            </a:r>
          </a:p>
          <a:p>
            <a:pPr lvl="2"/>
            <a:r>
              <a:rPr lang="de-CH" noProof="0" dirty="0"/>
              <a:t>Ebene 2</a:t>
            </a:r>
          </a:p>
          <a:p>
            <a:pPr lvl="3"/>
            <a:r>
              <a:rPr lang="de-CH" noProof="0" dirty="0"/>
              <a:t>Ebene 3</a:t>
            </a:r>
          </a:p>
          <a:p>
            <a:pPr lvl="4"/>
            <a:r>
              <a:rPr lang="de-CH" noProof="0" dirty="0"/>
              <a:t>Ebene 4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19100" y="6620400"/>
            <a:ext cx="11880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50">
                <a:solidFill>
                  <a:schemeClr val="tx1"/>
                </a:solidFill>
              </a:defRPr>
            </a:lvl1pPr>
          </a:lstStyle>
          <a:p>
            <a:fld id="{698FC4C5-3ADA-44FA-AF24-1DAFEB8AF652}" type="datetime1">
              <a:rPr lang="de-DE" smtClean="0"/>
              <a:t>02.07.2025</a:t>
            </a:fld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67508" y="6620400"/>
            <a:ext cx="81000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50" b="1">
                <a:solidFill>
                  <a:schemeClr val="tx1"/>
                </a:solidFill>
              </a:defRPr>
            </a:lvl1pPr>
          </a:lstStyle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5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BBC21AA-03C3-7EDE-BB82-F15F9CEADEFF}"/>
              </a:ext>
            </a:extLst>
          </p:cNvPr>
          <p:cNvSpPr txBox="1"/>
          <p:nvPr userDrawn="1"/>
        </p:nvSpPr>
        <p:spPr>
          <a:xfrm>
            <a:off x="9787386" y="6620400"/>
            <a:ext cx="1486542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de-DE"/>
            </a:defPPr>
            <a:lvl1pPr>
              <a:defRPr sz="950" b="1"/>
            </a:lvl1pPr>
          </a:lstStyle>
          <a:p>
            <a:pPr lvl="0" algn="r"/>
            <a:r>
              <a:rPr lang="de-CH" dirty="0"/>
              <a:t>www.fhnw.ch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52744D73-4AF0-A154-437F-3B480B65F51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52240" y="212400"/>
            <a:ext cx="1571760" cy="4248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35EF8AA-ECD2-FB66-452B-C9B1534A4F0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413844" y="212400"/>
            <a:ext cx="4415684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7" r:id="rId3"/>
    <p:sldLayoutId id="2147483668" r:id="rId4"/>
    <p:sldLayoutId id="2147483661" r:id="rId5"/>
    <p:sldLayoutId id="2147483669" r:id="rId6"/>
    <p:sldLayoutId id="2147483670" r:id="rId7"/>
    <p:sldLayoutId id="2147483665" r:id="rId8"/>
    <p:sldLayoutId id="2147483663" r:id="rId9"/>
    <p:sldLayoutId id="2147483664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268288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10000" indent="-269875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69875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 userDrawn="1">
          <p15:clr>
            <a:srgbClr val="A4A3A4"/>
          </p15:clr>
        </p15:guide>
        <p15:guide id="2" pos="7196" userDrawn="1">
          <p15:clr>
            <a:srgbClr val="A4A3A4"/>
          </p15:clr>
        </p15:guide>
        <p15:guide id="3" orient="horz" pos="3883" userDrawn="1">
          <p15:clr>
            <a:srgbClr val="A4A3A4"/>
          </p15:clr>
        </p15:guide>
        <p15:guide id="4" orient="horz" pos="125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3CDECF-27FA-E174-5AEA-9733D60C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FA439-CAC9-4573-B1B3-2D68157B76DD}" type="datetime3">
              <a:rPr lang="en-US" smtClean="0"/>
              <a:t>2 July 2025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70FC26-5ED0-B7E4-73CA-374A6F819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Sensors and Electronics</a:t>
            </a:r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0AC69-A660-5CF1-D826-639E90239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</a:t>
            </a:fld>
            <a:endParaRPr lang="de-CH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C53306-E22D-7F2C-D8A5-C152C7A48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502" y="846768"/>
            <a:ext cx="10839186" cy="492443"/>
          </a:xfrm>
        </p:spPr>
        <p:txBody>
          <a:bodyPr/>
          <a:lstStyle/>
          <a:p>
            <a:r>
              <a:rPr lang="en-GB" dirty="0"/>
              <a:t>Expected Outcome of the Capstone project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F2C54F-D951-6B39-CEEB-859091180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8075" y="1412776"/>
            <a:ext cx="11013193" cy="4751487"/>
          </a:xfrm>
        </p:spPr>
        <p:txBody>
          <a:bodyPr/>
          <a:lstStyle/>
          <a:p>
            <a:pPr marL="0" indent="0" algn="just">
              <a:buNone/>
            </a:pPr>
            <a:r>
              <a:rPr lang="en-US" sz="1600" dirty="0"/>
              <a:t>The 12-minute presentation serves as a platform for students to showcase their capstone project, demonstrating their understanding, problem-solving abilities, and communication skills. The presentation should concisely cover the project’s key aspects, including the problem addressed, theoretical analysis, methodology, results, and conclusions.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700" b="1" dirty="0"/>
              <a:t>Suggested Presentation Structure (12 minutes Presentation + 8 minutes Q&amp;A)</a:t>
            </a:r>
          </a:p>
          <a:p>
            <a:pPr marL="0" indent="0">
              <a:buNone/>
            </a:pPr>
            <a:endParaRPr lang="en-US" sz="1700" b="1" dirty="0"/>
          </a:p>
          <a:p>
            <a:pPr>
              <a:buFont typeface="+mj-lt"/>
              <a:buAutoNum type="arabicPeriod"/>
            </a:pPr>
            <a:r>
              <a:rPr lang="en-US" sz="1700" b="1" dirty="0"/>
              <a:t>Introduction &amp; Problem Statement (3 minutes)</a:t>
            </a:r>
            <a:endParaRPr lang="en-US" sz="1700" dirty="0"/>
          </a:p>
          <a:p>
            <a:pPr marL="673781" lvl="1" indent="-259147">
              <a:buFont typeface="+mj-lt"/>
              <a:buAutoNum type="arabicPeriod"/>
            </a:pPr>
            <a:r>
              <a:rPr lang="en-US" sz="1700" dirty="0"/>
              <a:t>Briefly explain the project’s purpose and relevance.</a:t>
            </a:r>
          </a:p>
          <a:p>
            <a:pPr>
              <a:buFont typeface="+mj-lt"/>
              <a:buAutoNum type="arabicPeriod"/>
            </a:pPr>
            <a:r>
              <a:rPr lang="en-US" sz="1700" b="1" dirty="0"/>
              <a:t>Theoretical Foundation (3 minutes)</a:t>
            </a:r>
            <a:endParaRPr lang="en-US" sz="1700" dirty="0"/>
          </a:p>
          <a:p>
            <a:pPr marL="673781" lvl="1" indent="-259147">
              <a:buFont typeface="+mj-lt"/>
              <a:buAutoNum type="arabicPeriod"/>
            </a:pPr>
            <a:r>
              <a:rPr lang="en-US" sz="1700" dirty="0"/>
              <a:t>Discuss key theoretical concepts and methods used.</a:t>
            </a:r>
          </a:p>
          <a:p>
            <a:pPr>
              <a:buFont typeface="+mj-lt"/>
              <a:buAutoNum type="arabicPeriod"/>
            </a:pPr>
            <a:r>
              <a:rPr lang="en-US" sz="1700" b="1" dirty="0"/>
              <a:t>Practical Application (3 minutes)</a:t>
            </a:r>
            <a:endParaRPr lang="en-US" sz="1700" dirty="0"/>
          </a:p>
          <a:p>
            <a:pPr marL="673781" lvl="1" indent="-259147">
              <a:buFont typeface="+mj-lt"/>
              <a:buAutoNum type="arabicPeriod"/>
            </a:pPr>
            <a:r>
              <a:rPr lang="en-US" sz="1700" dirty="0"/>
              <a:t>Showcase your implementation, challenges faced, and the results.</a:t>
            </a:r>
          </a:p>
          <a:p>
            <a:pPr>
              <a:buFont typeface="+mj-lt"/>
              <a:buAutoNum type="arabicPeriod"/>
            </a:pPr>
            <a:r>
              <a:rPr lang="en-US" sz="1700" b="1" dirty="0"/>
              <a:t>Future Work &amp; Conclusion (3 minutes)</a:t>
            </a:r>
            <a:endParaRPr lang="en-US" sz="1700" dirty="0"/>
          </a:p>
          <a:p>
            <a:pPr marL="673781" lvl="1" indent="-259147">
              <a:buFont typeface="+mj-lt"/>
              <a:buAutoNum type="arabicPeriod"/>
            </a:pPr>
            <a:r>
              <a:rPr lang="en-US" sz="1700" dirty="0"/>
              <a:t>Share potential future applications, possible improvements, and a final summary.</a:t>
            </a:r>
          </a:p>
          <a:p>
            <a:pPr marL="673781" lvl="1" indent="-259147">
              <a:buFont typeface="+mj-lt"/>
              <a:buAutoNum type="arabicPeriod"/>
            </a:pPr>
            <a:endParaRPr lang="en-US" sz="1700" dirty="0"/>
          </a:p>
          <a:p>
            <a:pPr>
              <a:buFont typeface="+mj-lt"/>
              <a:buAutoNum type="arabicPeriod"/>
            </a:pPr>
            <a:r>
              <a:rPr lang="en-US" sz="1700" b="1" dirty="0"/>
              <a:t>Q&amp;A – Discussion (8 minutes)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69494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0"/>
    </mc:Choice>
    <mc:Fallback xmlns="">
      <p:transition spd="slow" advClick="0" advTm="10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53ADAF5-4807-68FF-4D40-65438BF62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12.05.2025</a:t>
            </a:r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755E460-25C6-3A25-5B4F-AAC2A569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BDBB4E-FF89-DE17-7B80-A8E1AEC23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2</a:t>
            </a:fld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070260B-CF47-66A4-FC11-39A8B8E6AC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br>
              <a:rPr lang="de-CH" dirty="0"/>
            </a:br>
            <a:r>
              <a:rPr lang="de-CH" b="1" dirty="0">
                <a:solidFill>
                  <a:srgbClr val="252424"/>
                </a:solidFill>
                <a:latin typeface="Segoe UI" panose="020B0502040204020203" pitchFamily="34" charset="0"/>
              </a:rPr>
              <a:t>Amstalden Ronny</a:t>
            </a:r>
            <a:endParaRPr lang="de-CH" b="1" i="0" dirty="0">
              <a:solidFill>
                <a:srgbClr val="252424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C878F171-5CBB-F640-B0CE-CE00CC1579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Project DEFI: Decision Feedback Equalizer for Mitigating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Intersymbol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 Interference</a:t>
            </a:r>
            <a:endParaRPr lang="de-CH" dirty="0"/>
          </a:p>
        </p:txBody>
      </p:sp>
      <p:sp>
        <p:nvSpPr>
          <p:cNvPr id="8" name="Untertitel 7">
            <a:extLst>
              <a:ext uri="{FF2B5EF4-FFF2-40B4-BE49-F238E27FC236}">
                <a16:creationId xmlns:a16="http://schemas.microsoft.com/office/drawing/2014/main" id="{B99FC38A-260C-7A9B-B4EB-E0CE480284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 dirty="0"/>
          </a:p>
          <a:p>
            <a:r>
              <a:rPr lang="de-CH" dirty="0"/>
              <a:t>Modulschlussprüfungen</a:t>
            </a:r>
          </a:p>
          <a:p>
            <a:endParaRPr lang="de-CH" dirty="0"/>
          </a:p>
          <a:p>
            <a:r>
              <a:rPr lang="de-CH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Digital Communication (</a:t>
            </a:r>
            <a:r>
              <a:rPr lang="de-CH" sz="1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dcom</a:t>
            </a:r>
            <a:r>
              <a:rPr lang="de-CH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)	</a:t>
            </a:r>
          </a:p>
          <a:p>
            <a:endParaRPr lang="de-CH" dirty="0"/>
          </a:p>
          <a:p>
            <a:endParaRPr lang="de-CH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E20AF595-AEB1-03C8-4CE7-938F5F4D7FA8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l="15402" r="15402"/>
          <a:stretch/>
        </p:blipFill>
        <p:spPr>
          <a:xfrm>
            <a:off x="6102350" y="850900"/>
            <a:ext cx="5324475" cy="6007100"/>
          </a:xfrm>
        </p:spPr>
      </p:pic>
    </p:spTree>
    <p:extLst>
      <p:ext uri="{BB962C8B-B14F-4D97-AF65-F5344CB8AC3E}">
        <p14:creationId xmlns:p14="http://schemas.microsoft.com/office/powerpoint/2010/main" val="246504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4A184-2A3A-FD41-16D9-8C07D724A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502" y="1369405"/>
            <a:ext cx="10840997" cy="4857740"/>
          </a:xfrm>
        </p:spPr>
        <p:txBody>
          <a:bodyPr/>
          <a:lstStyle/>
          <a:p>
            <a:r>
              <a:rPr lang="de-CH" dirty="0"/>
              <a:t>Outline</a:t>
            </a:r>
            <a:br>
              <a:rPr lang="de-CH" dirty="0"/>
            </a:br>
            <a:r>
              <a:rPr lang="en-US" sz="1270" dirty="0"/>
              <a:t>Subtitle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de-CH" sz="127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AC3D8-1BA4-FACC-1CDB-B01CF1433E7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7950" y="2232336"/>
            <a:ext cx="4501128" cy="1523200"/>
          </a:xfrm>
        </p:spPr>
        <p:txBody>
          <a:bodyPr/>
          <a:lstStyle/>
          <a:p>
            <a:r>
              <a:rPr lang="en-GB" dirty="0"/>
              <a:t>I Introduction &amp; Problem Statement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Motivation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Problem Statement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1B610-C9DB-5310-CC21-081DFDB976F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81971" y="2232336"/>
            <a:ext cx="4501128" cy="1523200"/>
          </a:xfrm>
        </p:spPr>
        <p:txBody>
          <a:bodyPr/>
          <a:lstStyle/>
          <a:p>
            <a:r>
              <a:rPr lang="en-GB" dirty="0"/>
              <a:t>III Simulation Setup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ISI-Channel with AWGN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DFE Implementation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Bit Error Rate Analysis</a:t>
            </a:r>
          </a:p>
          <a:p>
            <a:pPr marL="0" indent="0">
              <a:lnSpc>
                <a:spcPct val="100000"/>
              </a:lnSpc>
              <a:buNone/>
            </a:pPr>
            <a:endParaRPr lang="en-GB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4AE0B3-F622-B7CA-8462-B506671BBC1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7950" y="4408612"/>
            <a:ext cx="4501128" cy="1632677"/>
          </a:xfrm>
        </p:spPr>
        <p:txBody>
          <a:bodyPr/>
          <a:lstStyle/>
          <a:p>
            <a:r>
              <a:rPr lang="en-GB" dirty="0"/>
              <a:t>II Theoretical Background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Channel Dispersion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Post Cursor ISI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Decision Feedback Equalizer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FAB47B-157D-E2BF-B8E5-19E4698619F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481971" y="4408612"/>
            <a:ext cx="4501128" cy="1632677"/>
          </a:xfrm>
        </p:spPr>
        <p:txBody>
          <a:bodyPr/>
          <a:lstStyle/>
          <a:p>
            <a:r>
              <a:rPr lang="en-GB" dirty="0"/>
              <a:t>IV Conclusion &amp; Future Work </a:t>
            </a:r>
          </a:p>
        </p:txBody>
      </p:sp>
    </p:spTree>
    <p:extLst>
      <p:ext uri="{BB962C8B-B14F-4D97-AF65-F5344CB8AC3E}">
        <p14:creationId xmlns:p14="http://schemas.microsoft.com/office/powerpoint/2010/main" val="1709607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4E1EA-02B4-7F38-6C0A-51F6DF90A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76" y="1067524"/>
            <a:ext cx="10587038" cy="1065332"/>
          </a:xfrm>
        </p:spPr>
        <p:txBody>
          <a:bodyPr/>
          <a:lstStyle/>
          <a:p>
            <a:r>
              <a:rPr lang="de-CH" sz="4800" dirty="0" err="1"/>
              <a:t>Introduction</a:t>
            </a:r>
            <a:r>
              <a:rPr lang="de-CH" sz="4800" dirty="0"/>
              <a:t> &amp; Problem Statement</a:t>
            </a:r>
            <a:br>
              <a:rPr lang="de-CH" sz="4800" dirty="0"/>
            </a:br>
            <a:endParaRPr lang="de-CH" sz="4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4C133-1CA9-9624-500C-643C2D599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52EE-1A92-4CB4-BCAA-EDE3CF50CF3F}" type="datetime1">
              <a:rPr lang="de-DE" smtClean="0"/>
              <a:t>02.07.2025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61303-11F6-226E-65C0-E1943DC20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Institute For Sensor and Electronics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08E12-59F9-8BFB-ADC4-E49823E7F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4</a:t>
            </a:fld>
            <a:endParaRPr lang="de-CH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4C85C95-92BD-C5E5-4C32-FB20C4224382}"/>
              </a:ext>
            </a:extLst>
          </p:cNvPr>
          <p:cNvSpPr txBox="1"/>
          <p:nvPr/>
        </p:nvSpPr>
        <p:spPr>
          <a:xfrm>
            <a:off x="479376" y="2348880"/>
            <a:ext cx="1051573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800" dirty="0" err="1"/>
              <a:t>High-speed</a:t>
            </a:r>
            <a:r>
              <a:rPr lang="de-CH" sz="2800" dirty="0"/>
              <a:t> </a:t>
            </a:r>
            <a:r>
              <a:rPr lang="de-CH" sz="2800" dirty="0" err="1"/>
              <a:t>data</a:t>
            </a:r>
            <a:r>
              <a:rPr lang="de-CH" sz="2800" dirty="0"/>
              <a:t> </a:t>
            </a:r>
            <a:r>
              <a:rPr lang="de-CH" sz="2800" dirty="0" err="1"/>
              <a:t>transmission</a:t>
            </a:r>
            <a:r>
              <a:rPr lang="de-CH" sz="2800" dirty="0"/>
              <a:t> </a:t>
            </a:r>
            <a:r>
              <a:rPr lang="de-CH" sz="2800" dirty="0" err="1"/>
              <a:t>over</a:t>
            </a:r>
            <a:r>
              <a:rPr lang="de-CH" sz="2800" dirty="0"/>
              <a:t> </a:t>
            </a:r>
            <a:r>
              <a:rPr lang="de-CH" sz="2800" dirty="0" err="1"/>
              <a:t>physical</a:t>
            </a:r>
            <a:r>
              <a:rPr lang="de-CH" sz="2800" dirty="0"/>
              <a:t> </a:t>
            </a:r>
            <a:r>
              <a:rPr lang="de-CH" sz="2800" dirty="0" err="1"/>
              <a:t>channels</a:t>
            </a:r>
            <a:r>
              <a:rPr lang="de-CH" sz="2800" dirty="0"/>
              <a:t> </a:t>
            </a:r>
            <a:r>
              <a:rPr lang="de-CH" sz="2800" dirty="0" err="1"/>
              <a:t>causes</a:t>
            </a:r>
            <a:r>
              <a:rPr lang="de-CH" sz="2800" dirty="0"/>
              <a:t> Intersymbol </a:t>
            </a:r>
            <a:r>
              <a:rPr lang="de-CH" sz="2800" dirty="0" err="1"/>
              <a:t>Interference</a:t>
            </a:r>
            <a:r>
              <a:rPr lang="de-CH" sz="2800" dirty="0"/>
              <a:t> (ISI).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800" dirty="0"/>
              <a:t>Eye </a:t>
            </a:r>
            <a:r>
              <a:rPr lang="de-CH" sz="2800" dirty="0" err="1"/>
              <a:t>diagrams</a:t>
            </a:r>
            <a:r>
              <a:rPr lang="de-CH" sz="2800" dirty="0"/>
              <a:t> </a:t>
            </a:r>
            <a:r>
              <a:rPr lang="de-CH" sz="2800" dirty="0" err="1"/>
              <a:t>collapse</a:t>
            </a:r>
            <a:r>
              <a:rPr lang="de-CH" sz="2800" dirty="0"/>
              <a:t>, Bit Error Rate (BER) </a:t>
            </a:r>
            <a:r>
              <a:rPr lang="de-CH" sz="2800" dirty="0" err="1"/>
              <a:t>increases</a:t>
            </a:r>
            <a:r>
              <a:rPr lang="de-CH" sz="2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800" dirty="0"/>
              <a:t>Need: Robust </a:t>
            </a:r>
            <a:r>
              <a:rPr lang="de-CH" sz="2800" dirty="0" err="1"/>
              <a:t>equalization</a:t>
            </a:r>
            <a:r>
              <a:rPr lang="de-CH" sz="2800" dirty="0"/>
              <a:t> </a:t>
            </a:r>
            <a:r>
              <a:rPr lang="de-CH" sz="2800" dirty="0" err="1"/>
              <a:t>method</a:t>
            </a:r>
            <a:r>
              <a:rPr lang="de-CH" sz="2800" dirty="0"/>
              <a:t>.</a:t>
            </a:r>
          </a:p>
          <a:p>
            <a:endParaRPr lang="de-CH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Objective: Implement and evaluate a DFE to mitigate ISI effects on a known dispersive channel.</a:t>
            </a:r>
            <a:endParaRPr lang="de-CH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2800" dirty="0"/>
          </a:p>
        </p:txBody>
      </p:sp>
    </p:spTree>
    <p:extLst>
      <p:ext uri="{BB962C8B-B14F-4D97-AF65-F5344CB8AC3E}">
        <p14:creationId xmlns:p14="http://schemas.microsoft.com/office/powerpoint/2010/main" val="1308443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301FFD-0542-B6DE-2815-2259422C6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76" y="1170372"/>
            <a:ext cx="11012400" cy="492443"/>
          </a:xfrm>
        </p:spPr>
        <p:txBody>
          <a:bodyPr wrap="square" anchor="t">
            <a:normAutofit/>
          </a:bodyPr>
          <a:lstStyle/>
          <a:p>
            <a:r>
              <a:rPr lang="de-CH" dirty="0" err="1"/>
              <a:t>Theoretical</a:t>
            </a:r>
            <a:r>
              <a:rPr lang="de-CH" dirty="0"/>
              <a:t> Background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CBAB51-05BC-A82E-6967-521234083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8076" y="1989137"/>
            <a:ext cx="5687924" cy="4175125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en-US" dirty="0"/>
              <a:t>High-speed random data traveling through limited-bandwidth (lossy) channels becomes dispersed.</a:t>
            </a:r>
          </a:p>
          <a:p>
            <a:pPr>
              <a:spcAft>
                <a:spcPts val="600"/>
              </a:spcAft>
            </a:pPr>
            <a:r>
              <a:rPr lang="en-US" dirty="0"/>
              <a:t>Data transitions (e.g., 010 or 101) may not fully resolve due to channel sluggishness (Fig. 1a).</a:t>
            </a:r>
          </a:p>
          <a:p>
            <a:pPr>
              <a:spcAft>
                <a:spcPts val="600"/>
              </a:spcAft>
            </a:pPr>
            <a:r>
              <a:rPr lang="en-US" dirty="0"/>
              <a:t>This causes jitter — the zero-crossing times depend on symbol amplitude.</a:t>
            </a:r>
          </a:p>
          <a:p>
            <a:pPr>
              <a:spcAft>
                <a:spcPts val="600"/>
              </a:spcAft>
            </a:pPr>
            <a:r>
              <a:rPr lang="en-US" dirty="0"/>
              <a:t>ISI increases bit detection errors and distorts timing.</a:t>
            </a:r>
          </a:p>
          <a:p>
            <a:pPr>
              <a:spcAft>
                <a:spcPts val="600"/>
              </a:spcAft>
            </a:pPr>
            <a:r>
              <a:rPr lang="en-US" dirty="0"/>
              <a:t>In the frequency domain, the channel attenuates high-frequency components (Fig. 1b).</a:t>
            </a:r>
          </a:p>
          <a:p>
            <a:pPr>
              <a:spcAft>
                <a:spcPts val="600"/>
              </a:spcAft>
            </a:pPr>
            <a:r>
              <a:rPr lang="en-US" dirty="0"/>
              <a:t>A high-pass filter (HPF) with inverse response can restore the signal shape (Fig. 1c).</a:t>
            </a:r>
          </a:p>
          <a:p>
            <a:pPr>
              <a:spcAft>
                <a:spcPts val="600"/>
              </a:spcAft>
            </a:pPr>
            <a:r>
              <a:rPr lang="en-US" dirty="0"/>
              <a:t>Result: Received data becomes less dispersed and easier to detect accurately.</a:t>
            </a:r>
          </a:p>
          <a:p>
            <a:pPr>
              <a:spcAft>
                <a:spcPts val="600"/>
              </a:spcAft>
            </a:pPr>
            <a:r>
              <a:rPr lang="en-US" dirty="0"/>
              <a:t>[1]</a:t>
            </a:r>
          </a:p>
        </p:txBody>
      </p:sp>
      <p:pic>
        <p:nvPicPr>
          <p:cNvPr id="8" name="Grafik 7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48646A9C-81BC-BADF-BE46-05FBA9813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864760"/>
            <a:ext cx="5327650" cy="4195523"/>
          </a:xfrm>
          <a:prstGeom prst="rect">
            <a:avLst/>
          </a:prstGeom>
          <a:noFill/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3CA4AC-89A9-BF0E-8DD0-79D4755B8B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5DBBF47-BFE4-482E-ACDC-02638A5F301F}" type="datetime1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02.07.2025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FC0048-8167-9A51-5454-DF4C7680C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Institute For Sensor and Electronics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764D8B-36D7-D781-6795-2FA0B2252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42AD375-037F-43D0-B059-5172DA06796A}" type="slidenum">
              <a:rPr lang="de-CH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25458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B969B-F88B-F2E1-A125-EE05FE2B1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8C2053-6020-4642-415E-A353B7C96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76" y="1170372"/>
            <a:ext cx="11012400" cy="492443"/>
          </a:xfrm>
        </p:spPr>
        <p:txBody>
          <a:bodyPr wrap="square" anchor="t">
            <a:normAutofit/>
          </a:bodyPr>
          <a:lstStyle/>
          <a:p>
            <a:r>
              <a:rPr lang="de-CH" dirty="0" err="1"/>
              <a:t>Theoretical</a:t>
            </a:r>
            <a:r>
              <a:rPr lang="de-CH" dirty="0"/>
              <a:t> Background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2C6690-76B4-4826-3DFE-A0F2CCEA7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8076" y="1989137"/>
            <a:ext cx="5831940" cy="439219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/>
              <a:t>Limitations of Linear Equalizers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HPF is a linear equalizer, applying high-frequency boost to counter channel loss.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But for lossy channels, this approach runs into key problems:</a:t>
            </a:r>
          </a:p>
          <a:p>
            <a:pPr marL="457200" indent="-457200">
              <a:lnSpc>
                <a:spcPct val="115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Noise Amplification</a:t>
            </a:r>
          </a:p>
          <a:p>
            <a:pPr lvl="2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Boosting high frequencies also amplifies high-frequency noise, degrading SNR.</a:t>
            </a:r>
          </a:p>
          <a:p>
            <a:pPr marL="457200" indent="-457200">
              <a:lnSpc>
                <a:spcPct val="115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Bandwidth and Power Tradeoffs</a:t>
            </a:r>
          </a:p>
          <a:p>
            <a:pPr lvl="2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Large boost requires many filter stages → increases power and limits bandwidth.</a:t>
            </a:r>
          </a:p>
          <a:p>
            <a:pPr marL="0" lvl="2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/>
              <a:t>3.   Mismatch Compensation Failure</a:t>
            </a:r>
          </a:p>
          <a:p>
            <a:pPr marL="612900" lvl="3" indent="-342900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Real channels include impedance mismatches (connectors, vias, cables).</a:t>
            </a:r>
          </a:p>
          <a:p>
            <a:pPr marL="612900" lvl="3" indent="-342900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These create deep notches in frequency response (Figure) — hard to equalize linearly. [1]</a:t>
            </a:r>
          </a:p>
        </p:txBody>
      </p:sp>
      <p:pic>
        <p:nvPicPr>
          <p:cNvPr id="9" name="Grafik 8" descr="Ein Bild, das Reihe, Tex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17EB1FE4-338C-DB7D-FDB5-5349B7562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979" y="2505485"/>
            <a:ext cx="5037671" cy="3142430"/>
          </a:xfrm>
          <a:prstGeom prst="rect">
            <a:avLst/>
          </a:prstGeom>
          <a:noFill/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416AB4-0559-065C-DD24-6E60762F82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5DBBF47-BFE4-482E-ACDC-02638A5F301F}" type="datetime1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02.07.2025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A959B8-14BB-E25A-CAF9-5F9DC7CD2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Institute For Sensor and Electronics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38C502-9025-E5E2-5B58-8404B4778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42AD375-037F-43D0-B059-5172DA06796A}" type="slidenum">
              <a:rPr lang="de-CH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59736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A6605-D923-F18B-00D5-342DCD69E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4EC370-8FC2-4843-B026-D969A91C3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76" y="1170372"/>
            <a:ext cx="5040000" cy="492443"/>
          </a:xfrm>
        </p:spPr>
        <p:txBody>
          <a:bodyPr wrap="square" anchor="t">
            <a:normAutofit/>
          </a:bodyPr>
          <a:lstStyle/>
          <a:p>
            <a:r>
              <a:rPr lang="de-CH" dirty="0" err="1"/>
              <a:t>Theoretical</a:t>
            </a:r>
            <a:r>
              <a:rPr lang="de-CH" dirty="0"/>
              <a:t> Background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E472993-8F95-019D-5862-9C49DEA27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8076" y="1988840"/>
            <a:ext cx="5673794" cy="4175423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b="1" dirty="0"/>
              <a:t>Postcursor ISI and DFE Operation</a:t>
            </a:r>
          </a:p>
          <a:p>
            <a:pPr>
              <a:spcAft>
                <a:spcPts val="600"/>
              </a:spcAft>
            </a:pPr>
            <a:r>
              <a:rPr lang="en-US" dirty="0"/>
              <a:t>Due to channel imperfections, each bit spreads in time → creating tails that interfere with subsequent bits.</a:t>
            </a:r>
          </a:p>
          <a:p>
            <a:pPr>
              <a:spcAft>
                <a:spcPts val="600"/>
              </a:spcAft>
            </a:pPr>
            <a:r>
              <a:rPr lang="en-US" dirty="0"/>
              <a:t>These tails at delays of Tb, 2Tb, ... are called </a:t>
            </a:r>
            <a:r>
              <a:rPr lang="en-US" dirty="0" err="1"/>
              <a:t>postcursors</a:t>
            </a:r>
            <a:r>
              <a:rPr lang="en-US" dirty="0"/>
              <a:t> (Fig. b).</a:t>
            </a:r>
          </a:p>
          <a:p>
            <a:pPr>
              <a:spcAft>
                <a:spcPts val="600"/>
              </a:spcAft>
            </a:pPr>
            <a:r>
              <a:rPr lang="en-US" dirty="0"/>
              <a:t>This </a:t>
            </a:r>
            <a:r>
              <a:rPr lang="en-US" dirty="0" err="1"/>
              <a:t>intersymbol</a:t>
            </a:r>
            <a:r>
              <a:rPr lang="en-US" dirty="0"/>
              <a:t> interference (ISI) results from energy loss across the spectrum</a:t>
            </a:r>
          </a:p>
          <a:p>
            <a:pPr>
              <a:spcAft>
                <a:spcPts val="600"/>
              </a:spcAft>
            </a:pPr>
            <a:r>
              <a:rPr lang="en-US" dirty="0"/>
              <a:t>[1]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B78CE0-DF92-A8DB-EA09-3373DE3348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5DBBF47-BFE4-482E-ACDC-02638A5F301F}" type="datetime1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02.07.2025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604BA6-4FC7-BD48-2E49-F8CC4B23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Institute For Sensor and Electronics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45FA3A-7D84-A929-5A69-DB38459CF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42AD375-037F-43D0-B059-5172DA06796A}" type="slidenum">
              <a:rPr lang="de-CH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de-CH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1966383-8561-8642-5481-8489B8606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131" y="2731608"/>
            <a:ext cx="5324400" cy="19167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84393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BACC5-F27C-DEEC-7B3A-5FD250D07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4ED000-580E-802C-02BE-4C5E62972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76" y="1170372"/>
            <a:ext cx="5040000" cy="492443"/>
          </a:xfrm>
        </p:spPr>
        <p:txBody>
          <a:bodyPr wrap="square" anchor="t">
            <a:normAutofit/>
          </a:bodyPr>
          <a:lstStyle/>
          <a:p>
            <a:r>
              <a:rPr lang="de-CH" dirty="0" err="1"/>
              <a:t>Theoretical</a:t>
            </a:r>
            <a:r>
              <a:rPr lang="de-CH" dirty="0"/>
              <a:t> Background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E7227F3-1A77-FDE4-EF2E-F25E8981A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8075" y="1916832"/>
            <a:ext cx="5702055" cy="4247431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/>
              <a:t>DFE Concept: Cancelling </a:t>
            </a:r>
            <a:r>
              <a:rPr lang="en-US" sz="1600" b="1" dirty="0" err="1"/>
              <a:t>Postcursors</a:t>
            </a:r>
            <a:endParaRPr lang="en-US" sz="1600" b="1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/>
              <a:t>The DFE cancels ISI by reconstructing and subtracting these tails (</a:t>
            </a:r>
            <a:r>
              <a:rPr lang="en-US" sz="1600" dirty="0" err="1"/>
              <a:t>postcursors</a:t>
            </a:r>
            <a:r>
              <a:rPr lang="en-US" sz="1600" dirty="0"/>
              <a:t>) from the current bit.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First-order cancellation:</a:t>
            </a:r>
          </a:p>
          <a:p>
            <a:pPr lvl="2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Delay the previous decision by 1 symbol (Tb)</a:t>
            </a:r>
          </a:p>
          <a:p>
            <a:pPr lvl="2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Scale it by the first postcursor tap h1</a:t>
            </a:r>
          </a:p>
          <a:p>
            <a:pPr lvl="2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Subtract it from the current input:</a:t>
            </a:r>
          </a:p>
          <a:p>
            <a:pPr lvl="2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Din−h1⋅Dout=</a:t>
            </a:r>
            <a:r>
              <a:rPr lang="en-US" sz="1600" dirty="0" err="1"/>
              <a:t>Dsum</a:t>
            </a:r>
            <a:r>
              <a:rPr lang="en-US" sz="1600" dirty="0"/>
              <a:t> (Fig. a)</a:t>
            </a:r>
          </a:p>
          <a:p>
            <a:pPr lvl="2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To suppress noise, a slicer (limiter) is introduced (Fig. b).</a:t>
            </a:r>
          </a:p>
          <a:p>
            <a:pPr lvl="2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In practice, this is implemented using a flip-flop (FF), which:</a:t>
            </a:r>
          </a:p>
          <a:p>
            <a:pPr lvl="3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Provides delay</a:t>
            </a:r>
          </a:p>
          <a:p>
            <a:pPr lvl="3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Makes hard decisions (±1)</a:t>
            </a:r>
          </a:p>
          <a:p>
            <a:pPr lvl="3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Feeds these decisions back (Fig. c) [1][2]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FFA469-25BB-85F4-3B65-E1926DDAFB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5DBBF47-BFE4-482E-ACDC-02638A5F301F}" type="datetime1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02.07.2025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79A5B0-1E61-467E-D093-11BBF561F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Institute For Sensor and Electronics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37FD52-85A8-C415-B917-4215A94A2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42AD375-037F-43D0-B059-5172DA06796A}" type="slidenum">
              <a:rPr lang="de-CH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de-CH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88842FB-B1DD-CCD5-E727-C0DACD90F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131" y="1556792"/>
            <a:ext cx="5324400" cy="2941731"/>
          </a:xfrm>
          <a:prstGeom prst="rect">
            <a:avLst/>
          </a:prstGeom>
          <a:noFill/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8BF20456-ED8C-0D71-6643-20A2A5DA0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494996"/>
            <a:ext cx="5364596" cy="188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882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ECFAB-DFA4-AB47-3528-8D800ADEB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A03420-64DD-A415-7748-3D1844641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76" y="1170372"/>
            <a:ext cx="5040000" cy="492443"/>
          </a:xfrm>
        </p:spPr>
        <p:txBody>
          <a:bodyPr wrap="square" anchor="t">
            <a:normAutofit/>
          </a:bodyPr>
          <a:lstStyle/>
          <a:p>
            <a:r>
              <a:rPr lang="de-CH" dirty="0" err="1"/>
              <a:t>Practical</a:t>
            </a:r>
            <a:r>
              <a:rPr lang="de-CH" dirty="0"/>
              <a:t> </a:t>
            </a:r>
            <a:r>
              <a:rPr lang="de-CH" dirty="0" err="1"/>
              <a:t>Application</a:t>
            </a:r>
            <a:endParaRPr lang="de-CH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E3D2A85-C39D-FDD2-FC70-496CA0CBF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8075" y="1916832"/>
            <a:ext cx="5702055" cy="4247431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/>
              <a:t>Simulation Setup – ISI Channel with Noise</a:t>
            </a: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i="1" dirty="0"/>
              <a:t>Signal Generation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Generate random binary data (0s and 1s).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Map to BPSK symbols: </a:t>
            </a:r>
          </a:p>
          <a:p>
            <a:pPr lvl="2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symbols=2⋅bits−1(values: ±1)</a:t>
            </a:r>
          </a:p>
          <a:p>
            <a:pPr marL="0" lvl="2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i="1" dirty="0"/>
              <a:t>ISI Channel Modeling</a:t>
            </a:r>
          </a:p>
          <a:p>
            <a:pPr marL="285750" lvl="2" indent="-285750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Define a 2-tap channel with impulse response:</a:t>
            </a:r>
          </a:p>
          <a:p>
            <a:pPr marL="555750" lvl="3" indent="-285750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h[n]=[0.8,0.5] </a:t>
            </a:r>
          </a:p>
          <a:p>
            <a:pPr marL="555750" lvl="3" indent="-285750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This models mild postcursor ISI.</a:t>
            </a:r>
          </a:p>
          <a:p>
            <a:pPr marL="555750" lvl="3" indent="-285750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Pass the symbol stream through the channel using convolution and adding </a:t>
            </a:r>
            <a:r>
              <a:rPr lang="en-US" sz="1600" dirty="0" err="1"/>
              <a:t>awgn</a:t>
            </a:r>
            <a:r>
              <a:rPr lang="en-US" sz="1600" dirty="0"/>
              <a:t>.</a:t>
            </a:r>
          </a:p>
          <a:p>
            <a:pPr marL="825750" lvl="4" indent="-285750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r[n]=s[n]∗h[n] + n[n]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2999C7-D764-4B07-B961-E03462BE27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5DBBF47-BFE4-482E-ACDC-02638A5F301F}" type="datetime1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02.07.2025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9F49D9-34E1-DD92-F059-241C50299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Institute For Sensor and Electronics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A2204F-5A42-712E-D376-14F80AC1F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42AD375-037F-43D0-B059-5172DA06796A}" type="slidenum">
              <a:rPr lang="de-CH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de-CH"/>
          </a:p>
        </p:txBody>
      </p:sp>
      <p:pic>
        <p:nvPicPr>
          <p:cNvPr id="11" name="Grafik 10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30E1A4B5-8B06-6015-7159-3E8B2C29B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765" y="1845264"/>
            <a:ext cx="5088827" cy="3960000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751F90DA-905D-8EAF-0F10-1863A0304FFF}"/>
              </a:ext>
            </a:extLst>
          </p:cNvPr>
          <p:cNvSpPr txBox="1"/>
          <p:nvPr/>
        </p:nvSpPr>
        <p:spPr>
          <a:xfrm>
            <a:off x="6744072" y="5888305"/>
            <a:ext cx="507656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dirty="0"/>
              <a:t>ISI-Channel </a:t>
            </a:r>
            <a:r>
              <a:rPr lang="de-CH" dirty="0" err="1"/>
              <a:t>with</a:t>
            </a:r>
            <a:r>
              <a:rPr lang="de-CH" dirty="0"/>
              <a:t> AWGN and SNR 10dB</a:t>
            </a:r>
          </a:p>
        </p:txBody>
      </p:sp>
    </p:spTree>
    <p:extLst>
      <p:ext uri="{BB962C8B-B14F-4D97-AF65-F5344CB8AC3E}">
        <p14:creationId xmlns:p14="http://schemas.microsoft.com/office/powerpoint/2010/main" val="1472103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E1188-C5BF-EEB1-08A7-1A2838192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A8A87B-9E39-AFB0-1EB4-BAF97236C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76" y="1170372"/>
            <a:ext cx="5040000" cy="492443"/>
          </a:xfrm>
        </p:spPr>
        <p:txBody>
          <a:bodyPr wrap="square" anchor="t">
            <a:normAutofit/>
          </a:bodyPr>
          <a:lstStyle/>
          <a:p>
            <a:r>
              <a:rPr lang="de-CH" dirty="0" err="1"/>
              <a:t>Practical</a:t>
            </a:r>
            <a:r>
              <a:rPr lang="de-CH" dirty="0"/>
              <a:t> </a:t>
            </a:r>
            <a:r>
              <a:rPr lang="de-CH" dirty="0" err="1"/>
              <a:t>Application</a:t>
            </a:r>
            <a:endParaRPr lang="de-CH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37114160-AF5F-0176-F3C1-5237B9C82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8075" y="1916832"/>
            <a:ext cx="5702055" cy="4247431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/>
              <a:t>Data visualization</a:t>
            </a: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i="1" dirty="0"/>
              <a:t>Signal Generation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Generate random binary data (0s and 1s).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Map to BPSK symbols: </a:t>
            </a:r>
          </a:p>
          <a:p>
            <a:pPr lvl="2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symbols=2⋅bits−1(values: ±1)</a:t>
            </a:r>
          </a:p>
          <a:p>
            <a:pPr marL="0" lvl="2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i="1" dirty="0"/>
              <a:t>ISI Channel Modeling</a:t>
            </a:r>
          </a:p>
          <a:p>
            <a:pPr marL="285750" lvl="2" indent="-285750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Define a 2-tap channel with impulse response:</a:t>
            </a:r>
          </a:p>
          <a:p>
            <a:pPr marL="555750" lvl="3" indent="-285750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h[n]=[0.8,0.5] </a:t>
            </a:r>
          </a:p>
          <a:p>
            <a:pPr marL="555750" lvl="3" indent="-285750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This models mild postcursor ISI.</a:t>
            </a:r>
          </a:p>
          <a:p>
            <a:pPr marL="555750" lvl="3" indent="-285750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Pass the symbol stream through the channel using convolution and adding </a:t>
            </a:r>
            <a:r>
              <a:rPr lang="en-US" sz="1600" dirty="0" err="1"/>
              <a:t>awgn</a:t>
            </a:r>
            <a:r>
              <a:rPr lang="en-US" sz="1600" dirty="0"/>
              <a:t>.</a:t>
            </a:r>
          </a:p>
          <a:p>
            <a:pPr marL="825750" lvl="4" indent="-285750"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r[n]=s[n]∗h[n] + n[n]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A94D10-4C48-DBBE-C8E2-3487F19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5DBBF47-BFE4-482E-ACDC-02638A5F301F}" type="datetime1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02.07.2025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1B6F4F-7455-3142-66C1-A83C2F488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Institute For Sensor and Electronics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09AC22-1257-FAA6-93C7-9BBEB6BA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42AD375-037F-43D0-B059-5172DA06796A}" type="slidenum">
              <a:rPr lang="de-CH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de-CH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7E00EDA-FCF3-4731-EC00-7C067307D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14137" y="1989240"/>
            <a:ext cx="6430535" cy="3600000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5FD0EB63-4C98-06C3-B2FE-68B6CBC41EF1}"/>
              </a:ext>
            </a:extLst>
          </p:cNvPr>
          <p:cNvSpPr txBox="1"/>
          <p:nvPr/>
        </p:nvSpPr>
        <p:spPr>
          <a:xfrm>
            <a:off x="6744072" y="5888305"/>
            <a:ext cx="507656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dirty="0"/>
              <a:t>Eye-</a:t>
            </a:r>
            <a:r>
              <a:rPr lang="de-CH" dirty="0" err="1"/>
              <a:t>Diagram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noisy</a:t>
            </a:r>
            <a:r>
              <a:rPr lang="de-CH" dirty="0"/>
              <a:t> </a:t>
            </a:r>
            <a:r>
              <a:rPr lang="de-CH" dirty="0" err="1"/>
              <a:t>data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551200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2D6B4-1185-10B6-028C-0F5ECF64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502694-23AF-FD56-83D8-8C72D164D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76" y="1170372"/>
            <a:ext cx="5040000" cy="492443"/>
          </a:xfrm>
        </p:spPr>
        <p:txBody>
          <a:bodyPr wrap="square" anchor="t">
            <a:normAutofit/>
          </a:bodyPr>
          <a:lstStyle/>
          <a:p>
            <a:r>
              <a:rPr lang="de-CH" dirty="0" err="1"/>
              <a:t>Practical</a:t>
            </a:r>
            <a:r>
              <a:rPr lang="de-CH" dirty="0"/>
              <a:t> </a:t>
            </a:r>
            <a:r>
              <a:rPr lang="de-CH" dirty="0" err="1"/>
              <a:t>Application</a:t>
            </a:r>
            <a:endParaRPr lang="de-CH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E524DB38-5A91-6D6B-ED73-EFCF7CA20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8075" y="1916832"/>
            <a:ext cx="6119973" cy="4247431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/>
              <a:t>Implementing the DFE</a:t>
            </a: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/>
              <a:t>Initialize:    h1, h2 ← 0         # Feedback taps    </a:t>
            </a: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/>
              <a:t>	decisions ← zeros(N)</a:t>
            </a: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= 2 to N-1:    </a:t>
            </a: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/>
              <a:t>	d1 ← decisions[i−1]</a:t>
            </a: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/>
              <a:t>    	d2 ← decisions[i−2]    </a:t>
            </a: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/>
              <a:t>	y ← received[</a:t>
            </a:r>
            <a:r>
              <a:rPr lang="en-US" sz="1600" dirty="0" err="1"/>
              <a:t>i</a:t>
            </a:r>
            <a:r>
              <a:rPr lang="en-US" sz="1600" dirty="0"/>
              <a:t>] − h1*d1 − h2*d2    </a:t>
            </a: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/>
              <a:t>	decisions[</a:t>
            </a:r>
            <a:r>
              <a:rPr lang="en-US" sz="1600" dirty="0" err="1"/>
              <a:t>i</a:t>
            </a:r>
            <a:r>
              <a:rPr lang="en-US" sz="1600" dirty="0"/>
              <a:t>] ← sign(y)    </a:t>
            </a: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/>
              <a:t>	error ← transmitted[</a:t>
            </a:r>
            <a:r>
              <a:rPr lang="en-US" sz="1600" dirty="0" err="1"/>
              <a:t>i</a:t>
            </a:r>
            <a:r>
              <a:rPr lang="en-US" sz="1600" dirty="0"/>
              <a:t>] − y    </a:t>
            </a: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/>
              <a:t>	h1 ← h1 + μ * error * d1    </a:t>
            </a: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/>
              <a:t>	h2 ← h2 + μ * error * d2</a:t>
            </a: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/>
              <a:t>[1][3]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0919A7-C32F-D2B6-FF2B-3FEB02396E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5DBBF47-BFE4-482E-ACDC-02638A5F301F}" type="datetime1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02.07.2025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3CB107-50C0-ED87-2180-CB33F367A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Institute For Sensor and Electronics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37FEC5-B681-5A20-BB9B-93769E4E5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42AD375-037F-43D0-B059-5172DA06796A}" type="slidenum">
              <a:rPr lang="de-CH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de-CH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5F4B218-5A8A-6982-0EA7-FD41CC1742CD}"/>
              </a:ext>
            </a:extLst>
          </p:cNvPr>
          <p:cNvSpPr txBox="1"/>
          <p:nvPr/>
        </p:nvSpPr>
        <p:spPr>
          <a:xfrm>
            <a:off x="6096000" y="5013176"/>
            <a:ext cx="507656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dirty="0"/>
              <a:t>2-Tap Architecture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DFE</a:t>
            </a:r>
          </a:p>
        </p:txBody>
      </p:sp>
      <p:pic>
        <p:nvPicPr>
          <p:cNvPr id="7" name="Grafik 6" descr="Ein Bild, das Diagramm, Reihe enthält.&#10;&#10;KI-generierte Inhalte können fehlerhaft sein.">
            <a:extLst>
              <a:ext uri="{FF2B5EF4-FFF2-40B4-BE49-F238E27FC236}">
                <a16:creationId xmlns:a16="http://schemas.microsoft.com/office/drawing/2014/main" id="{2BF3F10E-5D9D-5718-17C6-5F77F4AA4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220" y="1916832"/>
            <a:ext cx="5756850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487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0C4CC-87FF-E7C0-4126-FD9B42EE6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0D4B7A-0159-B57C-23AE-4A132A382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76" y="1170372"/>
            <a:ext cx="5040000" cy="492443"/>
          </a:xfrm>
        </p:spPr>
        <p:txBody>
          <a:bodyPr wrap="square" anchor="t">
            <a:normAutofit/>
          </a:bodyPr>
          <a:lstStyle/>
          <a:p>
            <a:r>
              <a:rPr lang="de-CH" dirty="0" err="1"/>
              <a:t>Practical</a:t>
            </a:r>
            <a:r>
              <a:rPr lang="de-CH" dirty="0"/>
              <a:t> </a:t>
            </a:r>
            <a:r>
              <a:rPr lang="de-CH" dirty="0" err="1"/>
              <a:t>Application</a:t>
            </a:r>
            <a:endParaRPr lang="de-CH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164F28D4-5176-600F-71C8-86E6C27EEB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8075" y="1916832"/>
            <a:ext cx="5702055" cy="4247431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/>
              <a:t>Evaluating DFE Performance</a:t>
            </a: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/>
              <a:t>After applying the Decision Feedback Equalizer (DFE), the eye diagram shows a notable improvement </a:t>
            </a: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endParaRPr lang="en-US" sz="1600" i="1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/>
              <a:t>However, the eye is not fully open, which suggests that: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Some residual ISI remains, possibly due to higher-order </a:t>
            </a:r>
            <a:r>
              <a:rPr lang="en-US" sz="1600" dirty="0" err="1"/>
              <a:t>postcursors</a:t>
            </a:r>
            <a:r>
              <a:rPr lang="en-US" sz="1600" dirty="0"/>
              <a:t> not captured by the 2-tap DFE.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The presence of additive noise reduces the vertical eye opening, making symbol decisions more vulnerable to errors.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DFE does not improve decision errors caused by noise!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2032D0-E267-F95E-9FFD-98BC2D59D9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5DBBF47-BFE4-482E-ACDC-02638A5F301F}" type="datetime1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02.07.2025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259782-F4C4-DF6E-AD5E-38A85E4C8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Institute For Sensor and Electronics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1F9503-21AC-B1B5-F7D7-63B542EF9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42AD375-037F-43D0-B059-5172DA06796A}" type="slidenum">
              <a:rPr lang="de-CH" smtClean="0"/>
              <a:pPr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de-CH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3EDB7C0-3B8C-73EF-956A-EDFA47661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54837" y="2012025"/>
            <a:ext cx="6349134" cy="3554430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0BD14EB3-51D2-1C04-9DCF-86355AA77DB4}"/>
              </a:ext>
            </a:extLst>
          </p:cNvPr>
          <p:cNvSpPr txBox="1"/>
          <p:nvPr/>
        </p:nvSpPr>
        <p:spPr>
          <a:xfrm>
            <a:off x="6744072" y="5672281"/>
            <a:ext cx="507656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dirty="0"/>
              <a:t>Eye-</a:t>
            </a:r>
            <a:r>
              <a:rPr lang="de-CH" dirty="0" err="1"/>
              <a:t>Diagram</a:t>
            </a:r>
            <a:r>
              <a:rPr lang="de-CH" dirty="0"/>
              <a:t> after DFE</a:t>
            </a:r>
          </a:p>
        </p:txBody>
      </p:sp>
    </p:spTree>
    <p:extLst>
      <p:ext uri="{BB962C8B-B14F-4D97-AF65-F5344CB8AC3E}">
        <p14:creationId xmlns:p14="http://schemas.microsoft.com/office/powerpoint/2010/main" val="2321011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93226-0563-EF3B-0242-19D655EEA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015977-FD52-8DF6-C87F-854125FC0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76" y="1170372"/>
            <a:ext cx="5040000" cy="492443"/>
          </a:xfrm>
        </p:spPr>
        <p:txBody>
          <a:bodyPr wrap="square" anchor="t">
            <a:normAutofit/>
          </a:bodyPr>
          <a:lstStyle/>
          <a:p>
            <a:r>
              <a:rPr lang="de-CH" dirty="0" err="1"/>
              <a:t>Practical</a:t>
            </a:r>
            <a:r>
              <a:rPr lang="de-CH" dirty="0"/>
              <a:t> </a:t>
            </a:r>
            <a:r>
              <a:rPr lang="de-CH" dirty="0" err="1"/>
              <a:t>Application</a:t>
            </a:r>
            <a:endParaRPr lang="de-CH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72711CC-8919-5778-9D9B-60421157B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8075" y="1916832"/>
            <a:ext cx="5702055" cy="4247431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/>
              <a:t>Bit Error Rate (BER) Analysis</a:t>
            </a: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/>
              <a:t>The Bit Error Rate (BER) provides a quantitative measure of the system’s reliability before and after equalization.</a:t>
            </a: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/>
              <a:t>Before DFE: The BER was </a:t>
            </a:r>
            <a:r>
              <a:rPr lang="en-US" sz="1600" b="1" dirty="0"/>
              <a:t>0.076</a:t>
            </a:r>
            <a:r>
              <a:rPr lang="en-US" sz="1600" dirty="0"/>
              <a:t>, indicating a moderate error rate caused primarily by </a:t>
            </a:r>
            <a:r>
              <a:rPr lang="en-US" sz="1600" dirty="0" err="1"/>
              <a:t>intersymbol</a:t>
            </a:r>
            <a:r>
              <a:rPr lang="en-US" sz="1600" dirty="0"/>
              <a:t> interference (ISI) in the received signal.</a:t>
            </a: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/>
              <a:t>After DFE: The BER dropped significantly to </a:t>
            </a:r>
            <a:r>
              <a:rPr lang="en-US" sz="1600" b="1" dirty="0"/>
              <a:t>0.009</a:t>
            </a:r>
            <a:r>
              <a:rPr lang="en-US" sz="1600" dirty="0"/>
              <a:t>, demonstrating the effectiveness of the 2-tap Decision Feedback Equalizer in mitigating ISI and improving symbol detection accuracy..</a:t>
            </a: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/>
              <a:t>[3]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8F51AA-95C1-3C1F-0094-895D356033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5DBBF47-BFE4-482E-ACDC-02638A5F301F}" type="datetime1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02.07.2025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326C31-A234-748F-D325-C549EF4FE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Institute For Sensor and Electronics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7ABBAE-E711-43DD-5C7D-85A1A31A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42AD375-037F-43D0-B059-5172DA06796A}" type="slidenum">
              <a:rPr lang="de-CH" smtClean="0"/>
              <a:pPr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de-CH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37E7653-19BF-933D-BCF2-3E78474EB3A0}"/>
              </a:ext>
            </a:extLst>
          </p:cNvPr>
          <p:cNvSpPr txBox="1"/>
          <p:nvPr/>
        </p:nvSpPr>
        <p:spPr>
          <a:xfrm>
            <a:off x="6996100" y="5672281"/>
            <a:ext cx="507656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dirty="0"/>
              <a:t>Bit Error Rate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function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SNR</a:t>
            </a:r>
          </a:p>
        </p:txBody>
      </p:sp>
      <p:pic>
        <p:nvPicPr>
          <p:cNvPr id="10" name="Grafik 9" descr="Ein Bild, das Reihe, Diagramm, Screenshot, Text enthält.&#10;&#10;KI-generierte Inhalte können fehlerhaft sein.">
            <a:extLst>
              <a:ext uri="{FF2B5EF4-FFF2-40B4-BE49-F238E27FC236}">
                <a16:creationId xmlns:a16="http://schemas.microsoft.com/office/drawing/2014/main" id="{3B1D8301-79CC-D338-7C22-80DB6D326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048" y="1916832"/>
            <a:ext cx="4667969" cy="367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567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C9837-DDD7-6933-EB27-9B39343CA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E5CEC9-E23C-214D-A187-83102BA22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76" y="1170372"/>
            <a:ext cx="11232540" cy="492443"/>
          </a:xfrm>
        </p:spPr>
        <p:txBody>
          <a:bodyPr wrap="square" anchor="t">
            <a:normAutofit/>
          </a:bodyPr>
          <a:lstStyle/>
          <a:p>
            <a:r>
              <a:rPr lang="en-US" sz="3200" b="1" dirty="0"/>
              <a:t>Conclusion       		          Future Work     </a:t>
            </a:r>
            <a:endParaRPr lang="de-CH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F9F20D24-FE32-EEEC-DA5D-09E51BCAD4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8075" y="1916832"/>
            <a:ext cx="5111861" cy="4247431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Successfully implemented a 2-tap Decision Feedback Equalizer (DFE) to reduce </a:t>
            </a:r>
            <a:r>
              <a:rPr lang="en-US" sz="1600" dirty="0" err="1"/>
              <a:t>intersymbol</a:t>
            </a:r>
            <a:r>
              <a:rPr lang="en-US" sz="1600" dirty="0"/>
              <a:t> interference (ISI) in a digital communication system. 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The simulation results demonstrate a significant BER reduction from 0.076 to 0.009, confirming the effectiveness of the DFE in time-domain equalization.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The eye diagram and BER analysis both validate that the DFE greatly improves signal integrity by mitigating postcursor ISI — even though some residual noise and interference remain.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2BA447-6417-7A6A-60C3-509FD863D0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5DBBF47-BFE4-482E-ACDC-02638A5F301F}" type="datetime1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02.07.2025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228AE1-5416-1BC0-0740-DA55ED430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Institute For Sensor and Electronics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A871B2-8086-D620-C061-BBB5A714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42AD375-037F-43D0-B059-5172DA06796A}" type="slidenum">
              <a:rPr lang="de-CH" smtClean="0"/>
              <a:pPr>
                <a:lnSpc>
                  <a:spcPct val="90000"/>
                </a:lnSpc>
                <a:spcAft>
                  <a:spcPts val="600"/>
                </a:spcAft>
              </a:pPr>
              <a:t>14</a:t>
            </a:fld>
            <a:endParaRPr lang="de-CH"/>
          </a:p>
        </p:txBody>
      </p:sp>
      <p:sp>
        <p:nvSpPr>
          <p:cNvPr id="3" name="Inhaltsplatzhalter 7">
            <a:extLst>
              <a:ext uri="{FF2B5EF4-FFF2-40B4-BE49-F238E27FC236}">
                <a16:creationId xmlns:a16="http://schemas.microsoft.com/office/drawing/2014/main" id="{477E33A5-5CC6-6770-207E-2F5FF0ECD5BB}"/>
              </a:ext>
            </a:extLst>
          </p:cNvPr>
          <p:cNvSpPr txBox="1">
            <a:spLocks/>
          </p:cNvSpPr>
          <p:nvPr/>
        </p:nvSpPr>
        <p:spPr>
          <a:xfrm>
            <a:off x="6135251" y="1916832"/>
            <a:ext cx="5111861" cy="4247431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marL="270000" indent="-27000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0000" indent="-27000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268288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10000" indent="-269875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69875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–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/>
              <a:t>To further enhance system performance and reliability, several improvements can be explored: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Matched Filter Before DFE: Introduce a matched filter prior to the DFE stage to maximize the signal-to-noise ratio (SNR) at the sampling instant. 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Feedforward Equalizer (FFE) Addition: To address precursor ISI, adding a feedforward filter stage before the DFE would allow equalization of both past and future ISI components.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Higher-Order DFE: Extend the DFE to more taps to handle longer ISI tails, especially in more dispersive channels.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dirty="0"/>
              <a:t>Dynamic LMS Tuning: Implement an adaptive learning rate or switching between training mode and decision-directed mode for more stable convergence.</a:t>
            </a:r>
          </a:p>
        </p:txBody>
      </p:sp>
    </p:spTree>
    <p:extLst>
      <p:ext uri="{BB962C8B-B14F-4D97-AF65-F5344CB8AC3E}">
        <p14:creationId xmlns:p14="http://schemas.microsoft.com/office/powerpoint/2010/main" val="2191702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7855D-712C-2E59-BC00-0C7EE5179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67B8E9-EE24-6084-6EE6-3549C5539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76" y="1170372"/>
            <a:ext cx="11232540" cy="492443"/>
          </a:xfrm>
        </p:spPr>
        <p:txBody>
          <a:bodyPr wrap="square" anchor="t">
            <a:normAutofit/>
          </a:bodyPr>
          <a:lstStyle/>
          <a:p>
            <a:r>
              <a:rPr lang="en-US" sz="3200" b="1" dirty="0"/>
              <a:t>Bibliography</a:t>
            </a:r>
            <a:endParaRPr lang="de-CH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03C3C6D7-7402-6D80-CD52-D02EDA830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8075" y="1916832"/>
            <a:ext cx="11232540" cy="424743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1800" kern="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[1]	B. Razavi, „The Decision-Feedback Equalizer“, </a:t>
            </a:r>
            <a:r>
              <a:rPr lang="en-US" sz="1800" i="1" kern="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IEEE Solid-State Circuits Mag.</a:t>
            </a:r>
            <a:r>
              <a:rPr lang="en-US" sz="1800" kern="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, S. 5, Fall 2017.</a:t>
            </a:r>
            <a:endParaRPr lang="de-CH" sz="1800" kern="1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buNone/>
            </a:pPr>
            <a:r>
              <a:rPr lang="en-US" sz="1800" kern="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[2]	Q. Chaudhari, „How Decision Feedback Equalizers (DFE) Work“, Wireless Pi. </a:t>
            </a:r>
            <a:r>
              <a:rPr lang="de-CH" sz="1800" kern="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Zugegriffen: 2. Juli 2025. [Online]. Verfügbar unter: https://wirelesspi.com/how-decision-feedback-equalizers-dfe-work/</a:t>
            </a:r>
            <a:endParaRPr lang="de-CH" sz="1800" kern="1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buNone/>
            </a:pPr>
            <a:r>
              <a:rPr lang="de-CH" sz="1800" kern="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[3]	M. Werner, </a:t>
            </a:r>
            <a:r>
              <a:rPr lang="de-CH" sz="1800" i="1" kern="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Nachrichtentechnik, Eine Einführung für alle Studiengänge</a:t>
            </a:r>
            <a:r>
              <a:rPr lang="de-CH" sz="1800" kern="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, 8. Aufl. Wiesbaden: Springer Vieweg, 2017.</a:t>
            </a:r>
            <a:endParaRPr lang="de-CH" sz="1800" kern="1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endParaRPr lang="de-CH" sz="1800" kern="1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DCE81F-1B23-18D1-5EFB-68F151BCE2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5DBBF47-BFE4-482E-ACDC-02638A5F301F}" type="datetime1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02.07.2025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BEE57B-61D6-F466-A17F-02F00B827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Institute For Sensor and Electronics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777DB2-875B-B866-9FF6-9545252CC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42AD375-037F-43D0-B059-5172DA06796A}" type="slidenum">
              <a:rPr lang="de-CH" smtClean="0"/>
              <a:pPr>
                <a:lnSpc>
                  <a:spcPct val="90000"/>
                </a:lnSpc>
                <a:spcAft>
                  <a:spcPts val="600"/>
                </a:spcAft>
              </a:pPr>
              <a:t>15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49267927"/>
      </p:ext>
    </p:extLst>
  </p:cSld>
  <p:clrMapOvr>
    <a:masterClrMapping/>
  </p:clrMapOvr>
</p:sld>
</file>

<file path=ppt/theme/theme1.xml><?xml version="1.0" encoding="utf-8"?>
<a:theme xmlns:a="http://schemas.openxmlformats.org/drawingml/2006/main" name="FHNW">
  <a:themeElements>
    <a:clrScheme name="Office-Standar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HTU-16x9-EN.potx" id="{C4C5A130-12B4-4BE0-AC26-69804186704D}" vid="{C54BC66A-4728-4581-B51C-2EAE5F846ED5}"/>
    </a:ext>
  </a:extLst>
</a:theme>
</file>

<file path=ppt/theme/theme2.xml><?xml version="1.0" encoding="utf-8"?>
<a:theme xmlns:a="http://schemas.openxmlformats.org/drawingml/2006/main" name="Office Theme">
  <a:themeElements>
    <a:clrScheme name="Fachhochschule Nordwestschweiz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FDE70E"/>
      </a:accent1>
      <a:accent2>
        <a:srgbClr val="FCB310"/>
      </a:accent2>
      <a:accent3>
        <a:srgbClr val="C70101"/>
      </a:accent3>
      <a:accent4>
        <a:srgbClr val="EF039B"/>
      </a:accent4>
      <a:accent5>
        <a:srgbClr val="0E75FE"/>
      </a:accent5>
      <a:accent6>
        <a:srgbClr val="58C507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Fachhochschule Nordwestschweiz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FDE70E"/>
      </a:accent1>
      <a:accent2>
        <a:srgbClr val="FCB310"/>
      </a:accent2>
      <a:accent3>
        <a:srgbClr val="C70101"/>
      </a:accent3>
      <a:accent4>
        <a:srgbClr val="EF039B"/>
      </a:accent4>
      <a:accent5>
        <a:srgbClr val="0E75FE"/>
      </a:accent5>
      <a:accent6>
        <a:srgbClr val="58C507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2ED5A2B-AA98-4E20-9ECF-6054E5AD6D36}">
  <we:reference id="ea375709-5511-4a7d-9ad9-0150d03e7fbe" version="3.4.0.0" store="EXCatalog" storeType="EXCatalog"/>
  <we:alternateReferences>
    <we:reference id="WA104380602" version="3.4.0.0" store="de-CH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336E6A137EBA04CAA14C83E6B567E6E" ma:contentTypeVersion="4" ma:contentTypeDescription="Ein neues Dokument erstellen." ma:contentTypeScope="" ma:versionID="506964d69c7fa676f2673ca1c565f571">
  <xsd:schema xmlns:xsd="http://www.w3.org/2001/XMLSchema" xmlns:xs="http://www.w3.org/2001/XMLSchema" xmlns:p="http://schemas.microsoft.com/office/2006/metadata/properties" xmlns:ns2="5019f46e-7630-4c10-8bcc-ae747be1e2f1" targetNamespace="http://schemas.microsoft.com/office/2006/metadata/properties" ma:root="true" ma:fieldsID="6f33e12c5860b9710acc1ab8237e07cc" ns2:_="">
    <xsd:import namespace="5019f46e-7630-4c10-8bcc-ae747be1e2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19f46e-7630-4c10-8bcc-ae747be1e2f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26B806-0237-4942-A1FD-5C97285908C2}">
  <ds:schemaRefs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c9077d15-72ed-4fec-bcfe-3472729e9195"/>
    <ds:schemaRef ds:uri="http://schemas.microsoft.com/office/2006/documentManagement/types"/>
    <ds:schemaRef ds:uri="http://purl.org/dc/terms/"/>
    <ds:schemaRef ds:uri="http://schemas.microsoft.com/office/infopath/2007/PartnerControls"/>
    <ds:schemaRef ds:uri="bc24777f-78b6-4f3c-a73a-d5fa08e4d53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53FC72E-3252-48C8-88DD-D79C2930A3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19f46e-7630-4c10-8bcc-ae747be1e2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HTU-16x9-EN</Template>
  <TotalTime>0</TotalTime>
  <Words>1528</Words>
  <Application>Microsoft Office PowerPoint</Application>
  <PresentationFormat>Breitbild</PresentationFormat>
  <Paragraphs>194</Paragraphs>
  <Slides>15</Slides>
  <Notes>1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8" baseType="lpstr">
      <vt:lpstr>Arial</vt:lpstr>
      <vt:lpstr>Segoe UI</vt:lpstr>
      <vt:lpstr>FHNW</vt:lpstr>
      <vt:lpstr>Expected Outcome of the Capstone project </vt:lpstr>
      <vt:lpstr>Project DEFI: Decision Feedback Equalizer for Mitigating Intersymbol Interference</vt:lpstr>
      <vt:lpstr>Outline Subtitle                </vt:lpstr>
      <vt:lpstr>Introduction &amp; Problem Statement </vt:lpstr>
      <vt:lpstr>Theoretical Background</vt:lpstr>
      <vt:lpstr>Theoretical Background</vt:lpstr>
      <vt:lpstr>Theoretical Background</vt:lpstr>
      <vt:lpstr>Theoretical Background</vt:lpstr>
      <vt:lpstr>Practical Application</vt:lpstr>
      <vt:lpstr>Practical Application</vt:lpstr>
      <vt:lpstr>Practical Application</vt:lpstr>
      <vt:lpstr>Practical Application</vt:lpstr>
      <vt:lpstr>Practical Application</vt:lpstr>
      <vt:lpstr>Conclusion                   Future Work     </vt:lpstr>
      <vt:lpstr>Bibliography</vt:lpstr>
    </vt:vector>
  </TitlesOfParts>
  <Company>Fachhochschule Nordwestschweiz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Mathieu Coustans</dc:creator>
  <dc:description/>
  <cp:lastModifiedBy>Amstalden Ronny</cp:lastModifiedBy>
  <cp:revision>13</cp:revision>
  <dcterms:created xsi:type="dcterms:W3CDTF">2025-05-07T12:30:30Z</dcterms:created>
  <dcterms:modified xsi:type="dcterms:W3CDTF">2025-07-02T13:02:52Z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0x010100F336E6A137EBA04CAA14C83E6B567E6E</vt:lpwstr>
  </property>
  <property fmtid="{D5CDD505-2E9C-101B-9397-08002B2CF9AE}" pid="3" name="MediaServiceImageTags">
    <vt:lpwstr/>
  </property>
</Properties>
</file>