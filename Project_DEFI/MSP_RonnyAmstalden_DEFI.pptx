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webextensions/taskpanes.xml" ContentType="application/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image13.png" ContentType="image/png"/>
  <Override PartName="/ppt/media/image9.png" ContentType="image/png"/>
  <Override PartName="/ppt/media/image2.svg" ContentType="image/svg"/>
  <Override PartName="/ppt/media/image5.png" ContentType="image/png"/>
  <Override PartName="/ppt/media/image14.png" ContentType="image/png"/>
  <Override PartName="/ppt/media/image4.svg" ContentType="image/svg"/>
  <Override PartName="/ppt/media/image11.png" ContentType="image/png"/>
  <Override PartName="/ppt/media/image7.png" ContentType="image/png"/>
  <Override PartName="/ppt/media/image16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8.png" ContentType="image/png"/>
  <Override PartName="/ppt/media/image12.png" ContentType="image/png"/>
  <Override PartName="/ppt/media/image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11/relationships/webextensiontaskpanes" Target="ppt/webextensions/taskpanes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FFC9827-2D41-4D4D-A9DF-995587F2B4A3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765000" y="900000"/>
            <a:ext cx="5559120" cy="312696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73280" y="4284000"/>
            <a:ext cx="5560200" cy="42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68"/>
          </p:nvPr>
        </p:nvSpPr>
        <p:spPr>
          <a:xfrm>
            <a:off x="5462640" y="8712000"/>
            <a:ext cx="870840" cy="1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de-CH" sz="9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DB8BB58-2BA4-47C9-AC42-E9C93C345D06}" type="slidenum">
              <a:rPr b="0" lang="de-CH" sz="9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chteck 10"/>
          <p:cNvSpPr/>
          <p:nvPr/>
        </p:nvSpPr>
        <p:spPr>
          <a:xfrm>
            <a:off x="0" y="846720"/>
            <a:ext cx="6101640" cy="601092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dt" idx="1"/>
          </p:nvPr>
        </p:nvSpPr>
        <p:spPr>
          <a:xfrm>
            <a:off x="408240" y="6223680"/>
            <a:ext cx="2631240" cy="21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3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3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13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ftr" idx="2"/>
          </p:nvPr>
        </p:nvSpPr>
        <p:spPr>
          <a:xfrm rot="16200000">
            <a:off x="12031560" y="148680"/>
            <a:ext cx="359640" cy="3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100" strike="noStrike" u="non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1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&lt;footer&gt;</a:t>
            </a:r>
            <a:endParaRPr b="0" lang="en-GB" sz="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 rot="16200000">
            <a:off x="12031560" y="148680"/>
            <a:ext cx="359640" cy="3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100" strike="noStrike" u="non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E6C728-D619-4FF0-AF60-D62DD981D2BB}" type="slidenum">
              <a:rPr b="0" lang="de-CH" sz="1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b="0" lang="en-GB" sz="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6103080" y="850680"/>
            <a:ext cx="5322960" cy="60069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Ersetzen Sie diesen Platzhalter durch ein Bild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(Grösse und Position beibehalten).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Eine Auswahl an FHNW-Bildern finden Sie im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«Content Chooser» rechts in PowerPoint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oder unter dem Menüpunkt «Einfügen &gt; Inhalte».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Eigene Bilder können Sie durch einen Klick auf das </a:t>
            </a: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untenstehende Icon einfügen.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408240" y="5229000"/>
            <a:ext cx="5265000" cy="93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de-CH" sz="13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Vorname Name</a:t>
            </a:r>
            <a:endParaRPr b="0" lang="de-DE" sz="135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title"/>
          </p:nvPr>
        </p:nvSpPr>
        <p:spPr>
          <a:xfrm>
            <a:off x="407520" y="1117080"/>
            <a:ext cx="5265000" cy="123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de-CH" sz="4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</a:t>
            </a:r>
            <a:br>
              <a:rPr sz="4000"/>
            </a:br>
            <a:r>
              <a:rPr b="1" lang="de-CH" sz="4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hinzufügen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2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dt" idx="4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ftr" idx="5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6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37479D-7665-458D-90B7-CCD606257A37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75360" y="1369440"/>
            <a:ext cx="10840680" cy="2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de-DE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durch Klicken hinzufügen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Rechteck 15"/>
          <p:cNvSpPr/>
          <p:nvPr/>
        </p:nvSpPr>
        <p:spPr>
          <a:xfrm>
            <a:off x="6194520" y="1976760"/>
            <a:ext cx="5321520" cy="2002320"/>
          </a:xfrm>
          <a:prstGeom prst="rect">
            <a:avLst/>
          </a:prstGeom>
          <a:solidFill>
            <a:srgbClr val="f0f01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82800" rIns="82800" tIns="41400" bIns="41400" anchor="t">
            <a:noAutofit/>
          </a:bodyPr>
          <a:p>
            <a:pPr algn="r" defTabSz="946080">
              <a:lnSpc>
                <a:spcPct val="100000"/>
              </a:lnSpc>
              <a:tabLst>
                <a:tab algn="l" pos="0"/>
              </a:tabLst>
            </a:pPr>
            <a:endParaRPr b="0" lang="de-DE" sz="19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Rechteck 23"/>
          <p:cNvSpPr/>
          <p:nvPr/>
        </p:nvSpPr>
        <p:spPr>
          <a:xfrm>
            <a:off x="6194520" y="4197600"/>
            <a:ext cx="5321520" cy="2002320"/>
          </a:xfrm>
          <a:prstGeom prst="rect">
            <a:avLst/>
          </a:prstGeom>
          <a:solidFill>
            <a:srgbClr val="f0f01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82800" rIns="82800" tIns="41400" bIns="41400" anchor="t">
            <a:noAutofit/>
          </a:bodyPr>
          <a:p>
            <a:pPr algn="r" defTabSz="946080">
              <a:lnSpc>
                <a:spcPct val="100000"/>
              </a:lnSpc>
              <a:tabLst>
                <a:tab algn="l" pos="0"/>
              </a:tabLst>
            </a:pPr>
            <a:endParaRPr b="0" lang="de-DE" sz="19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Rechteck 24"/>
          <p:cNvSpPr/>
          <p:nvPr/>
        </p:nvSpPr>
        <p:spPr>
          <a:xfrm>
            <a:off x="666000" y="4197600"/>
            <a:ext cx="5321520" cy="1991520"/>
          </a:xfrm>
          <a:prstGeom prst="rect">
            <a:avLst/>
          </a:prstGeom>
          <a:solidFill>
            <a:srgbClr val="f0f01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82800" rIns="82800" tIns="41400" bIns="41400" anchor="t">
            <a:noAutofit/>
          </a:bodyPr>
          <a:p>
            <a:pPr algn="r" defTabSz="946080">
              <a:lnSpc>
                <a:spcPct val="100000"/>
              </a:lnSpc>
              <a:tabLst>
                <a:tab algn="l" pos="0"/>
              </a:tabLst>
            </a:pPr>
            <a:endParaRPr b="0" lang="de-DE" sz="19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Rechteck 25"/>
          <p:cNvSpPr/>
          <p:nvPr/>
        </p:nvSpPr>
        <p:spPr>
          <a:xfrm>
            <a:off x="666000" y="1976760"/>
            <a:ext cx="5321520" cy="1991520"/>
          </a:xfrm>
          <a:prstGeom prst="rect">
            <a:avLst/>
          </a:prstGeom>
          <a:solidFill>
            <a:srgbClr val="f0f01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82800" rIns="82800" tIns="41400" bIns="41400" anchor="t">
            <a:noAutofit/>
          </a:bodyPr>
          <a:p>
            <a:pPr algn="r" defTabSz="946080">
              <a:lnSpc>
                <a:spcPct val="100000"/>
              </a:lnSpc>
              <a:tabLst>
                <a:tab algn="l" pos="0"/>
              </a:tabLst>
            </a:pPr>
            <a:endParaRPr b="0" lang="de-DE" sz="19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937800" y="2232360"/>
            <a:ext cx="4500720" cy="80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481800" y="2232360"/>
            <a:ext cx="4500720" cy="80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937800" y="4408560"/>
            <a:ext cx="4500720" cy="80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481800" y="4408560"/>
            <a:ext cx="4500720" cy="80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1" name="Grafik 6" descr=""/>
          <p:cNvPicPr/>
          <p:nvPr/>
        </p:nvPicPr>
        <p:blipFill>
          <a:blip r:embed="rId6"/>
          <a:stretch/>
        </p:blipFill>
        <p:spPr>
          <a:xfrm>
            <a:off x="10105560" y="304200"/>
            <a:ext cx="1289520" cy="335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08240" y="1989000"/>
            <a:ext cx="1101276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F41010-528A-4877-B4AE-68344E4641B6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Rechteck 6"/>
          <p:cNvSpPr/>
          <p:nvPr/>
        </p:nvSpPr>
        <p:spPr>
          <a:xfrm>
            <a:off x="0" y="846720"/>
            <a:ext cx="11429640" cy="601092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72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08240" y="1067400"/>
            <a:ext cx="10586520" cy="92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58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585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10"/>
          </p:nvPr>
        </p:nvSpPr>
        <p:spPr>
          <a:xfrm rot="16200000">
            <a:off x="12030120" y="162360"/>
            <a:ext cx="359640" cy="3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00" strike="noStrike" u="non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&lt;date/time&gt;</a:t>
            </a:r>
            <a:endParaRPr b="0" lang="en-GB" sz="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11"/>
          </p:nvPr>
        </p:nvSpPr>
        <p:spPr>
          <a:xfrm rot="16200000">
            <a:off x="12030120" y="162360"/>
            <a:ext cx="359640" cy="3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100" strike="noStrike" u="non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1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&lt;footer&gt;</a:t>
            </a:r>
            <a:endParaRPr b="0" lang="en-GB" sz="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12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4B6E97-7EE1-4940-BBA0-02A49462BEF4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08240" y="1989000"/>
            <a:ext cx="1101276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54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lphaLcPeriod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Zweite 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81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08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135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13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14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15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FC354A-21A4-48CB-AB1B-CDF9E41F2AD7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08240" y="1989000"/>
            <a:ext cx="503964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386040" y="1989000"/>
            <a:ext cx="503748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16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17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18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7D1FC3-E025-43EC-AA47-247CD17FB7A8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und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30000" y="1170360"/>
            <a:ext cx="539316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030000" y="1989000"/>
            <a:ext cx="539316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19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ftr" idx="20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sldNum" idx="21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9506B9-0C96-4E1E-BE88-F28874676C6F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body"/>
          </p:nvPr>
        </p:nvSpPr>
        <p:spPr>
          <a:xfrm>
            <a:off x="-2880" y="846000"/>
            <a:ext cx="5324040" cy="56876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Ersetzen Sie diesen Platzhalter durch ein Bild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(Grösse und Position beibehalten).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Eine Auswahl an FHNW-Bildern finden Sie im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«Content Chooser» rechts in PowerPoint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oder unter dem Menüpunkt «Einfügen &gt; Inhalte».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Eigene Bilder können Sie durch einen Klick auf das untenstehende Icon einfügen.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und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1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08240" y="1989000"/>
            <a:ext cx="503964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Inhalt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dt" idx="22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ftr" idx="23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sldNum" idx="24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E7537D-FBDD-49AB-B0E5-66274A34F347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body"/>
          </p:nvPr>
        </p:nvSpPr>
        <p:spPr>
          <a:xfrm>
            <a:off x="6110280" y="846000"/>
            <a:ext cx="5324040" cy="56876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Ersetzen Sie diesen Platzhalter durch ein Bild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(Grösse und Position beibehalten).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Eine Auswahl an FHNW-Bildern finden Sie im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«Content Chooser» rechts in PowerPoint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oder unter dem Menüpunkt «Einfügen &gt; Inhalte».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Eigene Bilder können Sie durch einen Klick auf das untenstehende Icon einfügen.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vollfläch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1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PlaceHolder 1"/>
          <p:cNvSpPr>
            <a:spLocks noGrp="1"/>
          </p:cNvSpPr>
          <p:nvPr>
            <p:ph type="dt" idx="25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26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sldNum" idx="27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00393B-483D-4D28-97BA-5B6B2740FA0C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body"/>
          </p:nvPr>
        </p:nvSpPr>
        <p:spPr>
          <a:xfrm>
            <a:off x="0" y="846720"/>
            <a:ext cx="11429640" cy="56876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Ersetzen Sie diesen Platzhalter durch ein Bild (Grösse und </a:t>
            </a: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Position beibehalten).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Eine Auswahl an FHNW-Bildern finden Sie im «Content </a:t>
            </a: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Chooser» rechts in PowerPoint 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oder unter dem Menüpunkt «Einfügen &gt; Inhalte».</a:t>
            </a:r>
            <a:br>
              <a:rPr sz="1600"/>
            </a:b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Eigene Bilder können Sie durch einen Klick</a:t>
            </a:r>
            <a:br>
              <a:rPr sz="1600"/>
            </a:br>
            <a:r>
              <a:rPr b="0" lang="de-CH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auf das untenstehende Icon einfügen.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hteck 13"/>
          <p:cNvSpPr/>
          <p:nvPr/>
        </p:nvSpPr>
        <p:spPr>
          <a:xfrm>
            <a:off x="0" y="6534000"/>
            <a:ext cx="11429640" cy="32364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CH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9" name="Textfeld 15"/>
          <p:cNvSpPr/>
          <p:nvPr/>
        </p:nvSpPr>
        <p:spPr>
          <a:xfrm>
            <a:off x="9787320" y="6620400"/>
            <a:ext cx="1486080" cy="1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1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www.fhnw.ch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Grafik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52120" y="212400"/>
            <a:ext cx="1571400" cy="4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Grafik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14000" y="212400"/>
            <a:ext cx="441540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Titel hinzufügen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dt" idx="28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ftr" idx="29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&lt;footer&gt;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sldNum" idx="30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260223-F215-4734-9A67-4A3FF8B4F132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75360" y="846720"/>
            <a:ext cx="1083888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en-GB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Expected Outcome of the Capstone project 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408240" y="1412640"/>
            <a:ext cx="11012760" cy="47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just" defTabSz="914400"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12-minute presentation serves as a platform for students to showcase their capstone project, demonstrating their understanding, problem-solving abilities, and communication skills. The presentation should concisely cover the project’s key aspects, including the problem addressed, theoretical analysis, methodology, results, and conclusions.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Suggested Presentation Structure (12 minutes Presentation + 8 minutes Q&amp;A)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Introduction &amp; Problem Statement (3 minutes)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73920" indent="-2592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Briefly explain the project’s purpose and relevance.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Theoretical Foundation (3 minutes)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73920" indent="-2592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Discuss key theoretical concepts and methods used.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 (3 minutes)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73920" indent="-2592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Showcase your implementation, challenges faced, and the results.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Future Work &amp; Conclusion (3 minutes)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73920" indent="-2592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Share potential future applications, possible improvements, and a final summary.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Q&amp;A – Discussion (8 minutes)</a:t>
            </a:r>
            <a:endParaRPr b="0" lang="de-DE" sz="17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Institute for Sensors and Electronics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CE4625-86DD-4F73-85FF-DB0DFF909719}" type="slidenum">
              <a:t>1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64BF770F-5F95-4B0C-97D3-034BDEAB07D5}" type="datetime3">
              <a:rPr lang="en-GB"/>
              <a:t>6 July 2025</a:t>
            </a:fld>
          </a:p>
        </p:txBody>
      </p:sp>
    </p:spTree>
  </p:cSld>
  <mc:AlternateContent>
    <mc:Choice Requires="p14">
      <p:transition spd="slow" advTm="10000" p14:dur="2000"/>
    </mc:Choice>
    <mc:Fallback>
      <p:transition spd="slow" advTm="10000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dt" idx="34"/>
          </p:nvPr>
        </p:nvSpPr>
        <p:spPr>
          <a:xfrm>
            <a:off x="408240" y="6223680"/>
            <a:ext cx="2631240" cy="21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3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3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12.05.2025</a:t>
            </a:r>
            <a:endParaRPr b="0" lang="en-GB" sz="13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08240" y="5229000"/>
            <a:ext cx="5265000" cy="93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25000"/>
              </a:lnSpc>
              <a:buNone/>
              <a:tabLst>
                <a:tab algn="l" pos="0"/>
              </a:tabLst>
            </a:pPr>
            <a:br>
              <a:rPr sz="1350"/>
            </a:br>
            <a:r>
              <a:rPr b="1" lang="de-CH" sz="1350" strike="noStrike" u="none">
                <a:solidFill>
                  <a:srgbClr val="252424"/>
                </a:solidFill>
                <a:effectLst/>
                <a:uFillTx/>
                <a:latin typeface="Segoe UI"/>
              </a:rPr>
              <a:t>Amstalden Ronny</a:t>
            </a:r>
            <a:endParaRPr b="0" lang="de-DE" sz="135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title"/>
          </p:nvPr>
        </p:nvSpPr>
        <p:spPr>
          <a:xfrm>
            <a:off x="407520" y="1117080"/>
            <a:ext cx="5265000" cy="123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Project DEFI: Decision Feedback Equalizer for Mitigating Intersymbol Interference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subTitle"/>
          </p:nvPr>
        </p:nvSpPr>
        <p:spPr>
          <a:xfrm>
            <a:off x="408240" y="2926800"/>
            <a:ext cx="5265000" cy="150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CH" sz="2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Modulschlussprüfungen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Digital Communication (dcom)</a:t>
            </a:r>
            <a:r>
              <a:rPr b="0" lang="de-CH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Placeholder 8" descr=""/>
          <p:cNvPicPr/>
          <p:nvPr/>
        </p:nvPicPr>
        <p:blipFill>
          <a:blip r:embed="rId1"/>
          <a:srcRect l="15401" t="0" r="15401" b="0"/>
          <a:stretch/>
        </p:blipFill>
        <p:spPr>
          <a:xfrm>
            <a:off x="6102360" y="851040"/>
            <a:ext cx="5324040" cy="6006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Institute For Sensor and Electronics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9C8951-5BDE-4177-AAC4-B9F0E3CA2D5F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75360" y="1369440"/>
            <a:ext cx="10840680" cy="48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de-CH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Outline</a:t>
            </a:r>
            <a:br>
              <a:rPr sz="1810"/>
            </a:br>
            <a:r>
              <a:rPr b="1" lang="en-US" sz="127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Subtitle</a:t>
            </a: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810"/>
            </a:br>
            <a:br>
              <a:rPr sz="1270"/>
            </a:br>
            <a:endParaRPr b="0" lang="de-DE" sz="127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937800" y="2232360"/>
            <a:ext cx="4500720" cy="152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en-GB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 Introduction &amp; Problem Statement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Motivation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Problem Statement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481800" y="2232360"/>
            <a:ext cx="4500720" cy="152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en-GB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III Simulation Setup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ISI-Channel with AWGN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DFE Implementation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Bit Error Rate Analysis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937800" y="4408560"/>
            <a:ext cx="4500720" cy="163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en-GB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II Theoretical Background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Channel Dispersion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Post Cursor ISI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buClr>
                <a:srgbClr val="808080"/>
              </a:buClr>
              <a:buFont typeface="Arial"/>
              <a:buChar char="–"/>
            </a:pPr>
            <a:r>
              <a:rPr b="0" i="1" lang="en-GB" sz="181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Arial"/>
              </a:rPr>
              <a:t>Decision Feedback Equalizer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5"/>
          <p:cNvSpPr>
            <a:spLocks noGrp="1"/>
          </p:cNvSpPr>
          <p:nvPr>
            <p:ph/>
          </p:nvPr>
        </p:nvSpPr>
        <p:spPr>
          <a:xfrm>
            <a:off x="6481800" y="4408560"/>
            <a:ext cx="4500720" cy="163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25000"/>
              </a:lnSpc>
              <a:buClr>
                <a:srgbClr val="000000"/>
              </a:buClr>
              <a:buFont typeface="Arial"/>
              <a:buChar char="–"/>
            </a:pPr>
            <a:r>
              <a:rPr b="0" lang="en-GB" sz="181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IV Conclusion &amp; Future Work </a:t>
            </a:r>
            <a:endParaRPr b="0" lang="de-DE" sz="181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08240" y="1067400"/>
            <a:ext cx="10586520" cy="10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4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Introduction &amp; Problem Statement</a:t>
            </a:r>
            <a:br>
              <a:rPr sz="4800"/>
            </a:br>
            <a:endParaRPr b="0" lang="de-DE" sz="4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feld 2"/>
          <p:cNvSpPr/>
          <p:nvPr/>
        </p:nvSpPr>
        <p:spPr>
          <a:xfrm>
            <a:off x="479520" y="2349000"/>
            <a:ext cx="10515240" cy="44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de-CH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High-speed data transmission over physical channels causes Intersymbol Interference (ISI).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de-CH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Eye diagrams collapse, Bit Error Rate (BER) increases.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de-CH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Need: Robust equalization method.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Objective: Implement and evaluate a DFE to mitigate ISI effects on a known dispersive channel.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Institute For Sensor and Electronics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E59F893-5976-4868-A3B5-F3BCB7552858}" type="slidenum">
              <a:t>4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FA2524C-22FE-47D2-A3A3-2132EB58EC75}" type="datetime1">
              <a:rPr lang="en-GB"/>
              <a:t>06/07/2025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Theoretical Background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08240" y="1989000"/>
            <a:ext cx="568764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High-speed random data traveling through limited-bandwidth (lossy) channels becomes dispersed.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Data transitions (e.g., 010 or 101) may not fully resolve due to channel sluggishness (Fig. 1a).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This causes jitter — the zero-crossing times depend on symbol amplitude.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ISI increases bit detection errors and distorts timing.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 the frequency domain, the channel attenuates high-frequency components (Fig. 1b).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A high-pass filter (HPF) with inverse response can restore the signal shape (Fig. 1c).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Result: Received data becomes less dispersed and easier to detect accurately.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[1]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8" name="Grafik 7" descr="Ein Bild, das Text, Diagramm, Reihe, Screenshot enthält.&#10;&#10;KI-generierte Inhalte können fehlerhaft sein."/>
          <p:cNvPicPr/>
          <p:nvPr/>
        </p:nvPicPr>
        <p:blipFill>
          <a:blip r:embed="rId1"/>
          <a:stretch/>
        </p:blipFill>
        <p:spPr>
          <a:xfrm>
            <a:off x="6095880" y="1864800"/>
            <a:ext cx="5327280" cy="419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3"/>
          <p:cNvSpPr>
            <a:spLocks noGrp="1"/>
          </p:cNvSpPr>
          <p:nvPr>
            <p:ph type="dt" idx="35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80776819-E550-4703-94BF-8825BA8BD179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ftr" idx="36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sldNum" idx="37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289F3D94-079D-48D6-8F0B-45C8BCA476AE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0120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Theoretical Background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08240" y="1989000"/>
            <a:ext cx="5831640" cy="439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Limitations of Linear Equalizers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HPF is a linear equalizer, applying high-frequency boost to counter channel loss.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But for lossy channels, this approach runs into key problems: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Noise Amplification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Boosting high frequencies also amplifies high-frequency noise, degrading SNR.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Bandwidth and Power Tradeoffs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Large boost requires many filter stages → increases power and limits bandwidth.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3.   Mismatch Compensation Failure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613080" indent="-34308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Real channels include impedance mismatches (connectors, vias, cables).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613080" indent="-34308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These create deep notches in frequency response (Figure) — hard to equalize linearly. [1]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4" name="Grafik 8" descr="Ein Bild, das Reihe, Text, Diagramm, Schrift enthält.&#10;&#10;KI-generierte Inhalte können fehlerhaft sein."/>
          <p:cNvPicPr/>
          <p:nvPr/>
        </p:nvPicPr>
        <p:blipFill>
          <a:blip r:embed="rId1"/>
          <a:stretch/>
        </p:blipFill>
        <p:spPr>
          <a:xfrm>
            <a:off x="6386040" y="2505600"/>
            <a:ext cx="5037480" cy="314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3"/>
          <p:cNvSpPr>
            <a:spLocks noGrp="1"/>
          </p:cNvSpPr>
          <p:nvPr>
            <p:ph type="dt" idx="38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42F02C9D-B13B-41CD-BFEB-C686346847C7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ftr" idx="39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5"/>
          <p:cNvSpPr>
            <a:spLocks noGrp="1"/>
          </p:cNvSpPr>
          <p:nvPr>
            <p:ph type="sldNum" idx="40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735A10AA-0631-4F49-AD86-7CC05D1E1C2B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6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Theoretical Background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08240" y="1989000"/>
            <a:ext cx="5673600" cy="417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Postcursor ISI and DFE Operation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Due to channel imperfections, each bit spreads in time → creating tails that interfere with subsequent bits.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These tails at delays of Tb, 2Tb, ... are called postcursors (Fig. b).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This intersymbol interference (ISI) results from energy loss across the spectrum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[1]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dt" idx="41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3563524E-7511-4767-BA13-96FE37D7CB2B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ftr" idx="42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sldNum" idx="43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5E39B0BD-190A-4F0A-9B7E-63CD90F3911B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7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Grafik 10" descr=""/>
          <p:cNvPicPr/>
          <p:nvPr/>
        </p:nvPicPr>
        <p:blipFill>
          <a:blip r:embed="rId1"/>
          <a:stretch/>
        </p:blipFill>
        <p:spPr>
          <a:xfrm>
            <a:off x="6110280" y="2731680"/>
            <a:ext cx="5324040" cy="191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Theoretical Background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70168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DFE Concept: Cancelling Postcursors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DFE cancels ISI by reconstructing and subtracting these tails (postcursors) from the current bit.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First-order cancellation: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Delay the previous decision by 1 symbol (Tb)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Scale it by the first postcursor tap h1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Subtract it from the current input: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Din−h1⋅Dout=Dsum (Fig. a)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To suppress noise, a slicer (limiter) is introduced (Fig. b).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 practice, this is implemented using a flip-flop (FF), which: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1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Provides delay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1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Makes hard decisions (±1)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1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Feeds these decisions back (Fig. c) [1][2]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dt" idx="44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4B571D80-697E-4C6E-B968-62150609FAFD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ftr" idx="45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 type="sldNum" idx="46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BC7FBB28-0EB5-4A95-B69A-4F568B6D4B21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8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" name="Grafik 6" descr=""/>
          <p:cNvPicPr/>
          <p:nvPr/>
        </p:nvPicPr>
        <p:blipFill>
          <a:blip r:embed="rId1"/>
          <a:stretch/>
        </p:blipFill>
        <p:spPr>
          <a:xfrm>
            <a:off x="6110280" y="1556640"/>
            <a:ext cx="5324040" cy="294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Grafik 8" descr=""/>
          <p:cNvPicPr/>
          <p:nvPr/>
        </p:nvPicPr>
        <p:blipFill>
          <a:blip r:embed="rId2"/>
          <a:stretch/>
        </p:blipFill>
        <p:spPr>
          <a:xfrm>
            <a:off x="6095880" y="4494960"/>
            <a:ext cx="5364360" cy="188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70168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Simulation Setup – ISI Channel with Noise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Signal Generation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Generate random binary data (0s and 1s).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Map to BPSK symbols: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540000" indent="-2682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symbols=2⋅bits−1(values: ±1)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ISI Channel Modeling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285840" indent="-28584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Define a 2-tap channel with impulse response: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555840" indent="-28584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h[n]=[0.8,0.5]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555840" indent="-28584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This models mild postcursor ISI.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555840" indent="-28584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Pass the symbol stream through the channel using convolution and adding awgn.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825840" indent="-28584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r[n]=s[n]∗h[n] + n[n]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dt" idx="47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B9C45477-57E6-49F2-BD1D-3F36CA012489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ftr" idx="48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sldNum" idx="49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34F8146E-59C9-491C-A23F-00E2E14749FA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9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6" name="Grafik 10" descr="Ein Bild, das Text, Reihe, Diagramm, Schrift enthält.&#10;&#10;KI-generierte Inhalte können fehlerhaft sein."/>
          <p:cNvPicPr/>
          <p:nvPr/>
        </p:nvPicPr>
        <p:blipFill>
          <a:blip r:embed="rId1"/>
          <a:stretch/>
        </p:blipFill>
        <p:spPr>
          <a:xfrm>
            <a:off x="6335640" y="1845360"/>
            <a:ext cx="5088600" cy="39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feld 11"/>
          <p:cNvSpPr/>
          <p:nvPr/>
        </p:nvSpPr>
        <p:spPr>
          <a:xfrm>
            <a:off x="6744240" y="5888160"/>
            <a:ext cx="50763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ISI-Channel with AWGN and SNR 10dB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17176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Data visualization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eye diagram of the received signal before equalization reveals severe signal degradation: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eye is heavily blurred and almost completely closed, both horizontally and vertically.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This indicates significant ISI, where symbols overlap and interfere with each other.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horizontal closing is caused by timing uncertainty and ISI from neighboring bits, while the vertical blurring is a result of additive noise.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dt" idx="50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82DD6303-2D9B-4A7D-9317-4F6F60BD224A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ftr" idx="51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sldNum" idx="52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D2E0A0E5-1547-426A-ADD1-5CD3DA92E8B0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10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3" name="Grafik 10" descr=""/>
          <p:cNvPicPr/>
          <p:nvPr/>
        </p:nvPicPr>
        <p:blipFill>
          <a:blip r:embed="rId1"/>
          <a:stretch/>
        </p:blipFill>
        <p:spPr>
          <a:xfrm>
            <a:off x="5714280" y="1989360"/>
            <a:ext cx="6430320" cy="359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feld 11"/>
          <p:cNvSpPr/>
          <p:nvPr/>
        </p:nvSpPr>
        <p:spPr>
          <a:xfrm>
            <a:off x="6744240" y="5888160"/>
            <a:ext cx="50763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Eye-Diagram of the noisy data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611964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Implementing the DFE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Initialize:    h1, h2 ← 0         # Feedback taps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decisions ← zeros(N)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For i = 2 to N-1: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d1 ← decisions[i−1]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d2 ← decisions[i−2]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y ← received[i] − h1*d1 − h2*d2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decisions[i] ← sign(y)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error ← transmitted[i] − y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h1 ← h1 + μ * error * d1   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h2 ← h2 + μ * error * d2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[1][3]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dt" idx="53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86FD8674-6754-4636-A157-E309AB58F686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 type="ftr" idx="54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 type="sldNum" idx="55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D56F1EE0-7540-472A-919D-28D01B0D5DA5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11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Textfeld 11"/>
          <p:cNvSpPr/>
          <p:nvPr/>
        </p:nvSpPr>
        <p:spPr>
          <a:xfrm>
            <a:off x="6095880" y="5013000"/>
            <a:ext cx="50763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2-Tap Architecture of the DFE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Grafik 6" descr="Ein Bild, das Diagramm, Reihe enthält.&#10;&#10;KI-generierte Inhalte können fehlerhaft sein."/>
          <p:cNvPicPr/>
          <p:nvPr/>
        </p:nvPicPr>
        <p:blipFill>
          <a:blip r:embed="rId1"/>
          <a:stretch/>
        </p:blipFill>
        <p:spPr>
          <a:xfrm>
            <a:off x="6060240" y="1917000"/>
            <a:ext cx="5756400" cy="30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70168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Evaluating DFE Performance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After applying the Decision Feedback Equalizer (DFE), the eye diagram shows a notable improvement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However, the eye is not fully open, which suggests that: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Some residual ISI remains, possibly due to higher-order postcursors not captured by the 2-tap DFE.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presence of additive noise reduces the vertical eye opening, making symbol decisions more vulnerable to errors.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DFE does not improve decision errors caused by noise!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dt" idx="56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E19147CF-3677-44DC-B136-7C35392E4F06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ftr" idx="57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 type="sldNum" idx="58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8C7BDE20-B85C-49E6-9E82-71C9B4F1592C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12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Grafik 10" descr=""/>
          <p:cNvPicPr/>
          <p:nvPr/>
        </p:nvPicPr>
        <p:blipFill>
          <a:blip r:embed="rId1"/>
          <a:stretch/>
        </p:blipFill>
        <p:spPr>
          <a:xfrm>
            <a:off x="5754960" y="2012040"/>
            <a:ext cx="6348600" cy="355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feld 11"/>
          <p:cNvSpPr/>
          <p:nvPr/>
        </p:nvSpPr>
        <p:spPr>
          <a:xfrm>
            <a:off x="6744240" y="5672160"/>
            <a:ext cx="50763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Eye-Diagram after DFE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503964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CH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Practical Application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70168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Bit Error Rate (BER) Analysis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Bit Error Rate (BER) provides a quantitative measure of the system’s reliability before and after equalization.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Before DFE: The BER was </a:t>
            </a: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0.076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indicating a moderate error rate caused primarily by intersymbol interference (ISI) in the received signal.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After DFE: The BER dropped significantly to </a:t>
            </a: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0.009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demonstrating the effectiveness of the 2-tap Decision Feedback Equalizer in mitigating ISI and improving symbol detection accuracy..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[3]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59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C3EEF2C2-D067-4B91-A04E-5020BB65AD0F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ftr" idx="60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sldNum" idx="61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CF990CF3-4F84-4CFB-9BBB-34BA5B078DB9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13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Textfeld 11"/>
          <p:cNvSpPr/>
          <p:nvPr/>
        </p:nvSpPr>
        <p:spPr>
          <a:xfrm>
            <a:off x="6996240" y="5672160"/>
            <a:ext cx="507636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Bit Error Rate as function of SNR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Grafik 9" descr="Ein Bild, das Reihe, Diagramm, Screenshot, Text enthält.&#10;&#10;KI-generierte Inhalte können fehlerhaft sein."/>
          <p:cNvPicPr/>
          <p:nvPr/>
        </p:nvPicPr>
        <p:blipFill>
          <a:blip r:embed="rId1"/>
          <a:stretch/>
        </p:blipFill>
        <p:spPr>
          <a:xfrm>
            <a:off x="6527880" y="1917000"/>
            <a:ext cx="4667760" cy="367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23236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Conclusion       </a:t>
            </a: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      Future Work     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511164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Successfully implemented a 2-tap Decision Feedback Equalizer (DFE) to reduce intersymbol interference (ISI) in a digital communication system. 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simulation results demonstrate a significant BER reduction from 0.076 to 0.009, confirming the effectiveness of the DFE in time-domain equalization.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The eye diagram and BER analysis both validate that the DFE greatly improves signal integrity by mitigating postcursor ISI — even though some residual noise and interference remain.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dt" idx="62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505D9853-34BD-4220-A4FC-EC5EE2B11531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 type="ftr" idx="63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5"/>
          <p:cNvSpPr>
            <a:spLocks noGrp="1"/>
          </p:cNvSpPr>
          <p:nvPr>
            <p:ph type="sldNum" idx="64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25C7AA7C-B963-40BA-9150-6C8BF15D11B3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Inhaltsplatzhalter 7"/>
          <p:cNvSpPr/>
          <p:nvPr/>
        </p:nvSpPr>
        <p:spPr>
          <a:xfrm>
            <a:off x="6135120" y="1917000"/>
            <a:ext cx="5111640" cy="42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defTabSz="914400">
              <a:lnSpc>
                <a:spcPct val="115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To further enhance system performance and reliability, several improvements can be explored: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Matched Filter Before DFE: Introduce a matched filter prior to the DFE stage to maximize the signal-to-noise ratio (SNR) at the sampling instant.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Feedforward Equalizer (FFE) Addition: To address precursor ISI, adding a feedforward filter stage before the DFE would allow equalization of both past and future ISI components.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Higher-Order DFE: Extend the DFE to more taps to handle longer ISI tails, especially in more dispersive channels.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15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Dynamic LMS Tuning: Implement an adaptive learning rate or switching between training mode and decision-directed mode for more stable convergence.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08240" y="1170360"/>
            <a:ext cx="11232360" cy="49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Bibliography</a:t>
            </a:r>
            <a:endParaRPr b="0" lang="de-DE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408240" y="1917000"/>
            <a:ext cx="11232360" cy="424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[1]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B. Razavi, „The Decision-Feedback Equalizer“,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IEEE Solid-State Circuits Mag.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, S. 5, Fall 2017.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[2]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Q. Chaudhari, „How Decision Feedback Equalizers (DFE) Work“, Wireless Pi. </a:t>
            </a: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Zugegriffen: 2. Juli 2025. [Online]. Verfügbar unter: https://wirelesspi.com/how-decision-feedback-equalizers-dfe-work/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[3]</a:t>
            </a: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M. Werner, </a:t>
            </a:r>
            <a:r>
              <a:rPr b="0" i="1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Nachrichtentechnik, Eine Einführung für alle Studiengänge</a:t>
            </a:r>
            <a:r>
              <a:rPr b="0" lang="de-CH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, 8. Aufl. Wiesbaden: Springer Vieweg, 2017.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dt" idx="65"/>
          </p:nvPr>
        </p:nvSpPr>
        <p:spPr>
          <a:xfrm>
            <a:off x="419040" y="6620400"/>
            <a:ext cx="1187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fld id="{2500B4D3-89F3-410E-91E5-EBB587C81A0C}" type="datetime1">
              <a:rPr b="0" lang="de-DE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06.07.2025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ftr" idx="66"/>
          </p:nvPr>
        </p:nvSpPr>
        <p:spPr>
          <a:xfrm>
            <a:off x="1667520" y="6620400"/>
            <a:ext cx="80996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defTabSz="914400">
              <a:lnSpc>
                <a:spcPct val="90000"/>
              </a:lnSpc>
              <a:spcAft>
                <a:spcPts val="601"/>
              </a:spcAft>
              <a:buNone/>
              <a:def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</a:pPr>
            <a:r>
              <a:rPr b="1" lang="en-US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Institute For Sensor and Electronics</a:t>
            </a:r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5"/>
          <p:cNvSpPr>
            <a:spLocks noGrp="1"/>
          </p:cNvSpPr>
          <p:nvPr>
            <p:ph type="sldNum" idx="67"/>
          </p:nvPr>
        </p:nvSpPr>
        <p:spPr>
          <a:xfrm>
            <a:off x="11460600" y="6620400"/>
            <a:ext cx="376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lstStyle>
            <a:lvl1pPr indent="0" algn="r" defTabSz="914400">
              <a:lnSpc>
                <a:spcPct val="90000"/>
              </a:lnSpc>
              <a:spcAft>
                <a:spcPts val="601"/>
              </a:spcAft>
              <a:buNone/>
              <a:def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spcAft>
                <a:spcPts val="601"/>
              </a:spcAft>
              <a:buNone/>
            </a:pPr>
            <a:fld id="{70A057B7-1C53-4B4C-81BF-E7F06EEA6EA3}" type="slidenum">
              <a:rPr b="0" lang="de-CH" sz="95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GB" sz="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HNW">
  <a:themeElements>
    <a:clrScheme name="Office-Standar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 pitchFamily="0" charset="1"/>
        <a:ea typeface=""/>
        <a:cs typeface=""/>
      </a:majorFont>
      <a:minorFont>
        <a:latin typeface="Arial" panose="020B06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336E6A137EBA04CAA14C83E6B567E6E" ma:contentTypeVersion="4" ma:contentTypeDescription="Ein neues Dokument erstellen." ma:contentTypeScope="" ma:versionID="506964d69c7fa676f2673ca1c565f571">
  <xsd:schema xmlns:xsd="http://www.w3.org/2001/XMLSchema" xmlns:xs="http://www.w3.org/2001/XMLSchema" xmlns:p="http://schemas.microsoft.com/office/2006/metadata/properties" xmlns:ns2="5019f46e-7630-4c10-8bcc-ae747be1e2f1" targetNamespace="http://schemas.microsoft.com/office/2006/metadata/properties" ma:root="true" ma:fieldsID="6f33e12c5860b9710acc1ab8237e07cc" ns2:_="">
    <xsd:import namespace="5019f46e-7630-4c10-8bcc-ae747be1e2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9f46e-7630-4c10-8bcc-ae747be1e2f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http://purl.org/dc/dcmitype/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c9077d15-72ed-4fec-bcfe-3472729e9195"/>
    <ds:schemaRef ds:uri="http://schemas.microsoft.com/office/2006/documentManagement/types"/>
    <ds:schemaRef ds:uri="http://purl.org/dc/terms/"/>
    <ds:schemaRef ds:uri="http://schemas.microsoft.com/office/infopath/2007/PartnerControls"/>
    <ds:schemaRef ds:uri="bc24777f-78b6-4f3c-a73a-d5fa08e4d53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53FC72E-3252-48C8-88DD-D79C2930A3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9f46e-7630-4c10-8bcc-ae747be1e2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HTU-16x9-EN</Template>
  <TotalTime>19</TotalTime>
  <Application>LibreOffice/25.2.4.3$Linux_X86_64 LibreOffice_project/520$Build-3</Application>
  <AppVersion>15.0000</AppVersion>
  <Words>1528</Words>
  <Paragraphs>194</Paragraphs>
  <Company>Fachhochschule Nordwestschweiz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2025-05-07T12:30:30Z</dcterms:created>
  <dc:creator>Mathieu Coustans</dc:creator>
  <dc:description/>
  <dc:language>en-GB</dc:language>
  <cp:lastModifiedBy/>
  <dcterms:modified xsi:type="dcterms:W3CDTF">2025-07-06T20:04:32Z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0x010100F336E6A137EBA04CAA14C83E6B567E6E</vt:lpwstr>
  </property>
  <property fmtid="{D5CDD505-2E9C-101B-9397-08002B2CF9AE}" pid="3" name="HiddenSlides">
    <vt:i4>1</vt:i4>
  </property>
  <property fmtid="{D5CDD505-2E9C-101B-9397-08002B2CF9AE}" pid="4" name="MediaServiceImageTags">
    <vt:lpwstr/>
  </property>
  <property fmtid="{D5CDD505-2E9C-101B-9397-08002B2CF9AE}" pid="5" name="Notes">
    <vt:i4>1</vt:i4>
  </property>
  <property fmtid="{D5CDD505-2E9C-101B-9397-08002B2CF9AE}" pid="6" name="PresentationFormat">
    <vt:lpwstr>Breitbild</vt:lpwstr>
  </property>
  <property fmtid="{D5CDD505-2E9C-101B-9397-08002B2CF9AE}" pid="7" name="Slides">
    <vt:i4>15</vt:i4>
  </property>
</Properties>
</file>